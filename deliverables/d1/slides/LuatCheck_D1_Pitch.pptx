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chưa tính giờ, nói trong lúc bước lên]
"Chào thầy và các bạn. Em là Dũng, nhóm 8. Đề tài của nhóm là LuatCheck —
trợ lý pháp luật tiếng Việt chạy nội bộ, trả lời kèm bằng chứng và biết từ chối."
→ Bấm sang slide 2 NGAY. Không đọc tên từng thành viên, không đọc mục lục.
→ Bắt đầu bấm giờ từ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0:00 → 0:30]   ~124 âm tiết ≈ 29 giây
"Người dùng là người không rành luật: nhân viên, chủ doanh nghiệp nhỏ, HR.
Câu hỏi thật: sắp bị cho thôi việc, được báo trước bao nhiêu ngày?
Hôm nay có hai lựa chọn, cả hai đều hỏng. Chatbot công cộng thì câu hỏi rời khỏi
tổ chức, và điều luật nó trích có thể không đỡ nổi câu trả lời. Cổng pháp luật có
văn bản gốc, nhưng phải biết trước mở cái nào.
Vì sao là agent chứ không phải script? Vì quyết định trả lời, hỏi lại, hay từ chối
phụ thuộc vào bằng chứng chỉ có sau khi truy hồi và kiểm chứng. Script phải cam kết
trả lời trước khi biết điều đó — và đó chính là lỗi tụi em nhắm tới."
→ Câu cuối là câu quan trọng nhất slide này. Nói chậm lại, rồi chuyển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0:30 → 1:30]   ~229 âm tiết ≈ 53 giây. Slide quan trọng nhất.
Chỉ tay theo mũi tên, TUYỆT ĐỐI không đọc hết chữ trên hình.
"Em đi theo mũi tên.
Câu hỏi và tài liệu dán vào đi qua Input Guard: mọi văn bản dán vào và truy hồi
được đều gắn nhãn không tin cậy, không bao giờ được đổi control policy hay quyền tool.
Giữa là control loop. Mỗi bước model chọn đúng một trong năm hành động: search_law,
get_article, answer, clarify, refuse. Ngân sách cứng: tối đa năm lời gọi tool, hai
vòng sửa.
Bên phải là tool layer, schema JSON tương thích MCP. Hai tool tra cứu chỉ đọc;
save_case hoàn tác được; send_summary thì không, nên bắt buộc người xác nhận.
Dưới là truy hồi lai BM25 cộng dense, RRF — trục một.
Rồi tới kiểm chứng bằng chứng, trục hai. L1 luôn chạy: điều luật được trích có tồn
tại không, có nằm trong kết quả truy hồi không, và câu khẳng định có được đoạn văn
đó đỡ không. Fail thì quay lại loop sửa — mũi tên cam bên trái. Fail lặp lại thì
từ chối.
Khối tím là memory, yêu cầu R3. Ngắn hạn là case ledger: facts, truy vấn đã chạy,
ID điều luật, ngân sách còn lại. Dài hạn là SQLite, chỉ ghi khi đã qua kiểm chứng —
không ghi ca từ chối, không ghi dữ liệu cá nhân thô.
Trục ba là guardrails: ở Input Guard, ở quyền tool, và ở egress duy nhất."
→ Nếu cháy giờ: bỏ đoạn tool layer. Nhưng PHẢI chỉ đủ ba chỗ thầy cần thấy —
   vòng lặp, memory, và ba nhãn A1/A2/A3.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1:30 → 2:15]   ~182 âm tiết ≈ 42 giây
"Đánh giá có ba phần.
Task set: hai trăm cặp câu hỏi–điều luật từ VLQA để đo truy hồi, và hai mươi task
end-to-end — mười câu một điều luật, năm câu tổng hợp, ba câu không trả lời được,
hai câu đối kháng. Cộng ít nhất mười ca tấn công.
Metric: Recall và MRR cho truy hồi; đầu ra đo tỉ lệ câu không có bằng chứng đỡ,
citation precision và recall, và tỉ lệ tấn công thành công.
Phần thứ ba là phần tụi em quan tâm nhất: làm sao biết chính cái thước đo là đúng.
Tụi em gán nhãn tay ba mươi cặp claim–điều luật để audit bộ verifier, đo độ chính
xác và tỉ lệ từ chối sai. Utility và attack-success báo riêng, nên từ chối hết mọi
thứ không được điểm cao hơn.
Số lần chạy: ba cấu hình nhân ba seed nhân hai mươi task, là một trăm tám mươi lần
chạy. A với B tách đúng cơ chế tụi em claim; C cho biết ràng buộc chạy nội bộ tốn
bao nhiêu chất lượng."
→ Nếu thầy hỏi "sao chỉ 20 task": vì mỗi task chạy 9 lần và có verifier audit gán
   nhãn tay. Ưu tiên đo được sai số, hơn là số lượng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2:15 → 2:45]   ~126 âm tiết ≈ 29 giây
"Threat model v0. Tài sản cần bảo vệ: tính đúng của câu trả lời, dữ liệu người dùng,
nhật ký audit, và các điểm đi ra ngoài.
Dữ liệu không tin cậy vào ở năm chỗ: câu hỏi, tài liệu dán vào, văn bản truy hồi
được, output của tool, và payload của send_summary — cũng là đường ra duy nhất.
Biện pháp chính: mọi văn bản dán vào và truy hồi được đều gắn nhãn không tin cậy,
không được đổi control policy hay quyền tool. Mặc định chỉ đọc; đường ra duy nhất
bắt buộc người xác nhận và ghi log trước khi gửi.
Kiểm bằng bộ tấn công ít nhất mười ca, trong đó hai ca cài ngay vào chính index
của tụi em."
→ Nhấn câu cuối. Cài tấn công vào chính index của mình là indirect injection thật,
   không phải chỉ test prompt người dùng — chỗ này ăn điểm R6.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2:45 → 3:00]   ~62 âm tiết ≈ 15 giây. Nói gọn rồi DỪNG.
"Giả định rủi ro nhất: một model 4 tới 8 tỉ tham số chạy nội bộ có thể ở trong vòng
lặp năm hành động và hồi phục sau khi kiểm chứng fail, đủ thường xuyên để đo được.
Nếu sai, tụi em lên 8B rồi 32B, giữ nguyên schema và ngân sách cứng. Kiểm tra trích
dẫn L1 thì không bao giờ bỏ.
Em xin hết ạ."
→ DỪNG Ở ĐÂY. Không bấm tiếp — các slide sau là backup, chỉ mở khi thầy hỏi.
→ Còn dư giây nào thì im lặng, đừng nói thêm. Nói thêm là mất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chắn. Nếu lỡ bấm quá slide 6 thì dừng ở đây, không sao.
Thứ tự backup phía sau:
  8  — MỚI            (bảng so sánh với cái đã có)
  9  — KHÔNG TẦM THƯỜNG (quyết định thiết kế khó nhất)
  10 — CÓ Ý NGHĨA      (ai chịu ảnh hưởng, bằng chứng)
  11 — KHẢ THI         (kế hoạch theo tuần + phân công)
  12 — Bản đồ R2/R3/R4/R5/R6
  13 —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câu hỏi "MỚI ở chỗ nào?"]
Trả lời ngắn: "Không có cái nào trong bốn cái này vừa chạy nội bộ, vừa kiểm chứng
từng claim, vừa có đường từ chối tường minh. Cái mới là tổ hợp, không phải model
mới hay retriever mới — tụi em nói rõ là không đề xuất hai thứ đó."
Nếu thầy hỏi "ví dụ gần nhất đã có là gì": commercial legal AI (Lexis+ AI,
Westlaw AI) — Magesh 2025 đo và vẫn thấy mis-citation; và các con đó đều là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câu hỏi "quyết định thiết kế khó nhất là gì? sao AI assistant không tự làm được?"]
Đây là câu thầy hay dùng để loại đề tài. Trả lời theo ba nhịp:
1. "Quyết định khó nhất là: khi kiểm chứng fail thì làm gì. Có bốn lựa chọn hợp lệ
   và lựa chọn đúng phụ thuộc vào lý do fail."
2. "Sai hướng nào cũng chết: từ chối quá tay thì sản phẩm vô dụng; trả lời quá tay
   thì đúng lại cái lỗi mình định sửa. Ngưỡng chấp nhận quyết định mình chết hướng nào."
3. "Coding assistant dựng được cái loop trong một buổi chiều — tụi em có ghi rõ là
   có dùng. Cái nó không làm được là chỉ ra ngưỡng đó nằm ở đâu trên văn bản pháp
   luật tiếng Việt, và trả cái giá đo đạc đánh đổi đó. Phần đo đạc mới là đồ án."
→ Đừng phòng thủ khi thầy nhắc AI assistant. Nhận là có dùng, rồi tách rõ ranh giới.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câu hỏi "nếu chạy hoàn hảo thì ai dùng? hoặc trả lời câu hỏi nghiên cứu nào?"]
Trả lời: "Người dùng là SME không có phòng pháp chế. Hiện tại HR của họ hoặc đoán,
hoặc dán hợp đồng vào chatbot công cộng — mà từ 1/1/2026 thì việc đó vướng Luật Bảo
vệ dữ liệu cá nhân 91/2025/QH15."
Nếu thầy đẩy sang hướng nghiên cứu: "Câu hỏi nghiên cứu là kiểm chứng bằng chứng ở
mức claim mua được bao nhiêu grounding, và trả giá bao nhiêu bằng coverage và latency,
trên một SLM chạy nội bộ."
→ Nhớ: con số của Magesh là đo trên tool thương mại, không phải tụi em tự suy diễn.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câu hỏi "kế hoạch theo tuần so với 10 tuần thực có, có khả thi không?"]
Trả lời thẳng vào ràng buộc, đừng giấu: "Hai trong ba thành viên là software engineer
chưa làm agentic AI, mỗi người khoảng bốn tiếng một tuần. Nên tụi em chốt interface
contract ở tuần 3 để ba nhánh chạy độc lập, và chỉ một nhánh là agent-specific.
Retrieval, UI, storage, fault harness đều là kỹ thuật phần mềm bình thường."
Nếu thầy hỏi "không có GPU thì sao": fallback là 4B quantize 4-bit trên máy cá nhân,
rồi tới GPU của trường hoặc tổ chức. Chỉ số latency đổi, còn claim về privacy không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dùng khi thầy hỏi R2/R3/R4/R5/R6]
Đây là slide "bảo hiểm". Thầy hỏi requirement nào thì mở slide này và chỉ đúng dòng đó.
Không đọc cả bảng.
Nếu thầy hỏi "MCP đã dựng chưa": trả lời thật — "Chưa. D1 tụi em giữ schema JSON
tương thích MCP; phơi thành MCP server là việc của D2, và không phải sửa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references]
Giống danh mục trong bản D1 đã nộp, cộng thêm [11] Kapoor (bản D1 có cite nhưng
sai key trong refs.bib: chap1.tex ghi kapoor2025agentsmatter, refs.bib có
kapoor2024agentsmatter → citation đó ra dấu "?" trong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874520"/>
            <a:ext cx="10424160" cy="914400"/>
          </a:xfrm>
          <a:prstGeom prst="rect">
            <a:avLst/>
          </a:prstGeom>
          <a:noFill/>
          <a:ln/>
        </p:spPr>
        <p:txBody>
          <a:bodyPr wrap="square" lIns="0" tIns="0" rIns="0" bIns="0" rtlCol="0" anchor="t"/>
          <a:lstStyle/>
          <a:p>
            <a:pPr indent="0" marL="0">
              <a:lnSpc>
                <a:spcPts val="6532"/>
              </a:lnSpc>
              <a:buNone/>
            </a:pPr>
            <a:r>
              <a:rPr lang="en-US" sz="4600" b="1" dirty="0">
                <a:solidFill>
                  <a:srgbClr val="111111"/>
                </a:solidFill>
                <a:latin typeface="Cambria" pitchFamily="34" charset="0"/>
                <a:ea typeface="Cambria" pitchFamily="34" charset="-122"/>
                <a:cs typeface="Cambria" pitchFamily="34" charset="-120"/>
              </a:rPr>
              <a:t>LuatCheck</a:t>
            </a:r>
            <a:endParaRPr lang="en-US" sz="4600" dirty="0"/>
          </a:p>
        </p:txBody>
      </p:sp>
      <p:sp>
        <p:nvSpPr>
          <p:cNvPr id="3" name="Text 1"/>
          <p:cNvSpPr txBox="1"/>
          <p:nvPr/>
        </p:nvSpPr>
        <p:spPr>
          <a:xfrm>
            <a:off x="640080" y="2743200"/>
            <a:ext cx="10424160" cy="457200"/>
          </a:xfrm>
          <a:prstGeom prst="rect">
            <a:avLst/>
          </a:prstGeom>
          <a:noFill/>
          <a:ln/>
        </p:spPr>
        <p:txBody>
          <a:bodyPr wrap="square" lIns="0" tIns="0" rIns="0" bIns="0" rtlCol="0" anchor="t"/>
          <a:lstStyle/>
          <a:p>
            <a:pPr indent="0" marL="0">
              <a:lnSpc>
                <a:spcPts val="2840"/>
              </a:lnSpc>
              <a:buNone/>
            </a:pPr>
            <a:r>
              <a:rPr lang="en-US" sz="2000" dirty="0">
                <a:solidFill>
                  <a:srgbClr val="111111"/>
                </a:solidFill>
                <a:latin typeface="Cambria" pitchFamily="34" charset="0"/>
                <a:ea typeface="Cambria" pitchFamily="34" charset="-122"/>
                <a:cs typeface="Cambria" pitchFamily="34" charset="-120"/>
              </a:rPr>
              <a:t>A local, evidence-grounded Vietnamese legal assistant</a:t>
            </a:r>
            <a:endParaRPr lang="en-US" sz="2000" dirty="0"/>
          </a:p>
        </p:txBody>
      </p:sp>
      <p:sp>
        <p:nvSpPr>
          <p:cNvPr id="4" name="Text 2"/>
          <p:cNvSpPr txBox="1"/>
          <p:nvPr/>
        </p:nvSpPr>
        <p:spPr>
          <a:xfrm>
            <a:off x="640080" y="3218688"/>
            <a:ext cx="10424160" cy="365760"/>
          </a:xfrm>
          <a:prstGeom prst="rect">
            <a:avLst/>
          </a:prstGeom>
          <a:noFill/>
          <a:ln/>
        </p:spPr>
        <p:txBody>
          <a:bodyPr wrap="square" lIns="0" tIns="0" rIns="0" bIns="0" rtlCol="0" anchor="t"/>
          <a:lstStyle/>
          <a:p>
            <a:pPr indent="0" marL="0">
              <a:lnSpc>
                <a:spcPts val="2272"/>
              </a:lnSpc>
              <a:buNone/>
            </a:pPr>
            <a:r>
              <a:rPr lang="en-US" sz="1600" i="1" dirty="0">
                <a:solidFill>
                  <a:srgbClr val="595959"/>
                </a:solidFill>
                <a:latin typeface="Cambria" pitchFamily="34" charset="0"/>
                <a:ea typeface="Cambria" pitchFamily="34" charset="-122"/>
                <a:cs typeface="Cambria" pitchFamily="34" charset="-120"/>
              </a:rPr>
              <a:t>Legal answers you can verify</a:t>
            </a:r>
            <a:endParaRPr lang="en-US" sz="1600" dirty="0"/>
          </a:p>
        </p:txBody>
      </p:sp>
      <p:sp>
        <p:nvSpPr>
          <p:cNvPr id="5" name="Text 3"/>
          <p:cNvSpPr txBox="1"/>
          <p:nvPr/>
        </p:nvSpPr>
        <p:spPr>
          <a:xfrm>
            <a:off x="640080" y="4114800"/>
            <a:ext cx="10424160" cy="1371600"/>
          </a:xfrm>
          <a:prstGeom prst="rect">
            <a:avLst/>
          </a:prstGeom>
          <a:noFill/>
          <a:ln/>
        </p:spPr>
        <p:txBody>
          <a:bodyPr wrap="square" lIns="0" tIns="0" rIns="0" bIns="0" rtlCol="0" anchor="t"/>
          <a:lstStyle/>
          <a:p>
            <a:pPr indent="0" marL="0">
              <a:lnSpc>
                <a:spcPts val="1917"/>
              </a:lnSpc>
              <a:buNone/>
            </a:pPr>
            <a:r>
              <a:rPr lang="en-US" sz="1350" dirty="0">
                <a:solidFill>
                  <a:srgbClr val="595959"/>
                </a:solidFill>
                <a:latin typeface="Cambria" pitchFamily="34" charset="0"/>
                <a:ea typeface="Cambria" pitchFamily="34" charset="-122"/>
                <a:cs typeface="Cambria" pitchFamily="34" charset="-120"/>
              </a:rPr>
              <a:t>D1 proposal pitch · Group 8 · Theme 9 · Application track</a:t>
            </a:r>
            <a:endParaRPr lang="en-US" sz="1350" dirty="0"/>
          </a:p>
          <a:p>
            <a:pPr indent="0" marL="0">
              <a:lnSpc>
                <a:spcPts val="1917"/>
              </a:lnSpc>
              <a:buNone/>
            </a:pPr>
            <a:r>
              <a:rPr lang="en-US" sz="1350" dirty="0">
                <a:solidFill>
                  <a:srgbClr val="595959"/>
                </a:solidFill>
                <a:latin typeface="Cambria" pitchFamily="34" charset="0"/>
                <a:ea typeface="Cambria" pitchFamily="34" charset="-122"/>
                <a:cs typeface="Cambria" pitchFamily="34" charset="-120"/>
              </a:rPr>
              <a:t>Lê Trí Quyền (leader) · Võ Phạm Tuấn Dũng · Nguyễn Hoàng Phong</a:t>
            </a:r>
            <a:endParaRPr lang="en-US" sz="1350" dirty="0"/>
          </a:p>
          <a:p>
            <a:pPr indent="0" marL="0">
              <a:lnSpc>
                <a:spcPts val="1917"/>
              </a:lnSpc>
              <a:buNone/>
            </a:pPr>
            <a:r>
              <a:rPr lang="en-US" sz="1350" dirty="0">
                <a:solidFill>
                  <a:srgbClr val="595959"/>
                </a:solidFill>
                <a:latin typeface="Cambria" pitchFamily="34" charset="0"/>
                <a:ea typeface="Cambria" pitchFamily="34" charset="-122"/>
                <a:cs typeface="Cambria" pitchFamily="34" charset="-120"/>
              </a:rPr>
              <a:t>Supervisor: Dr. Lê Xuân Bách · CO5151 Advanced Agentic Artificial Intelligence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2</a:t>
            </a:r>
            <a:endParaRPr lang="en-US" sz="1000" dirty="0"/>
          </a:p>
        </p:txBody>
      </p:sp>
      <p:sp>
        <p:nvSpPr>
          <p:cNvPr id="3" name="Text 1"/>
          <p:cNvSpPr txBox="1"/>
          <p:nvPr/>
        </p:nvSpPr>
        <p:spPr>
          <a:xfrm>
            <a:off x="640080" y="402336"/>
            <a:ext cx="8714232" cy="50292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Problem and users</a:t>
            </a:r>
            <a:endParaRPr lang="en-US" sz="2800" dirty="0"/>
          </a:p>
        </p:txBody>
      </p:sp>
      <p:sp>
        <p:nvSpPr>
          <p:cNvPr id="4" name="Text 2"/>
          <p:cNvSpPr txBox="1"/>
          <p:nvPr/>
        </p:nvSpPr>
        <p:spPr>
          <a:xfrm>
            <a:off x="9354312" y="493776"/>
            <a:ext cx="2194560" cy="274320"/>
          </a:xfrm>
          <a:prstGeom prst="rect">
            <a:avLst/>
          </a:prstGeom>
          <a:noFill/>
          <a:ln/>
        </p:spPr>
        <p:txBody>
          <a:bodyPr wrap="square" lIns="0" tIns="0" rIns="0" bIns="0" rtlCol="0" anchor="t"/>
          <a:lstStyle/>
          <a:p>
            <a:pPr algn="r" indent="0" marL="0">
              <a:buNone/>
            </a:pPr>
            <a:r>
              <a:rPr lang="en-US" sz="1200" dirty="0">
                <a:solidFill>
                  <a:srgbClr val="8C8C8C"/>
                </a:solidFill>
                <a:latin typeface="Cambria" pitchFamily="34" charset="0"/>
                <a:ea typeface="Cambria" pitchFamily="34" charset="-122"/>
                <a:cs typeface="Cambria" pitchFamily="34" charset="-120"/>
              </a:rPr>
              <a:t>0:00 – 0:30</a:t>
            </a:r>
            <a:endParaRPr lang="en-US" sz="1200" dirty="0"/>
          </a:p>
        </p:txBody>
      </p:sp>
      <p:sp>
        <p:nvSpPr>
          <p:cNvPr id="5" name="Text 3"/>
          <p:cNvSpPr txBox="1"/>
          <p:nvPr/>
        </p:nvSpPr>
        <p:spPr>
          <a:xfrm>
            <a:off x="640080" y="1298448"/>
            <a:ext cx="6035040"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Who asks</a:t>
            </a:r>
            <a:endParaRPr lang="en-US" sz="1450" dirty="0"/>
          </a:p>
        </p:txBody>
      </p:sp>
      <p:sp>
        <p:nvSpPr>
          <p:cNvPr id="6" name="Text 4"/>
          <p:cNvSpPr txBox="1"/>
          <p:nvPr/>
        </p:nvSpPr>
        <p:spPr>
          <a:xfrm>
            <a:off x="640080" y="1627632"/>
            <a:ext cx="6035040" cy="548640"/>
          </a:xfrm>
          <a:prstGeom prst="rect">
            <a:avLst/>
          </a:prstGeom>
          <a:noFill/>
          <a:ln/>
        </p:spPr>
        <p:txBody>
          <a:bodyPr wrap="square" lIns="0" tIns="0" rIns="0" bIns="0" rtlCol="0" anchor="t"/>
          <a:lstStyle/>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Vietnamese non-lawyers — employees, small-business owners, SME HR and administrative staff.</a:t>
            </a:r>
            <a:endParaRPr lang="en-US" sz="1350" dirty="0"/>
          </a:p>
        </p:txBody>
      </p:sp>
      <p:sp>
        <p:nvSpPr>
          <p:cNvPr id="7" name="Text 5"/>
          <p:cNvSpPr txBox="1"/>
          <p:nvPr/>
        </p:nvSpPr>
        <p:spPr>
          <a:xfrm>
            <a:off x="640080" y="2212848"/>
            <a:ext cx="6035040" cy="365760"/>
          </a:xfrm>
          <a:prstGeom prst="rect">
            <a:avLst/>
          </a:prstGeom>
          <a:noFill/>
          <a:ln/>
        </p:spPr>
        <p:txBody>
          <a:bodyPr wrap="square" lIns="0" tIns="0" rIns="0" bIns="0" rtlCol="0" anchor="t"/>
          <a:lstStyle/>
          <a:p>
            <a:pPr indent="0" marL="0">
              <a:lnSpc>
                <a:spcPts val="1917"/>
              </a:lnSpc>
              <a:buNone/>
            </a:pPr>
            <a:r>
              <a:rPr lang="en-US" sz="1350" i="1" dirty="0">
                <a:solidFill>
                  <a:srgbClr val="595959"/>
                </a:solidFill>
                <a:latin typeface="Cambria" pitchFamily="34" charset="0"/>
                <a:ea typeface="Cambria" pitchFamily="34" charset="-122"/>
                <a:cs typeface="Cambria" pitchFamily="34" charset="-120"/>
              </a:rPr>
              <a:t>“I am being let go next month — how many days of notice am I entitled to?”</a:t>
            </a:r>
            <a:endParaRPr lang="en-US" sz="1350" dirty="0"/>
          </a:p>
        </p:txBody>
      </p:sp>
      <p:sp>
        <p:nvSpPr>
          <p:cNvPr id="8" name="Text 6"/>
          <p:cNvSpPr txBox="1"/>
          <p:nvPr/>
        </p:nvSpPr>
        <p:spPr>
          <a:xfrm>
            <a:off x="640080" y="2834640"/>
            <a:ext cx="6035040"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Two options today, both fail</a:t>
            </a:r>
            <a:endParaRPr lang="en-US" sz="1450" dirty="0"/>
          </a:p>
        </p:txBody>
      </p:sp>
      <p:sp>
        <p:nvSpPr>
          <p:cNvPr id="9" name="Text 7"/>
          <p:cNvSpPr txBox="1"/>
          <p:nvPr/>
        </p:nvSpPr>
        <p:spPr>
          <a:xfrm>
            <a:off x="640080" y="3182112"/>
            <a:ext cx="6035040" cy="2194560"/>
          </a:xfrm>
          <a:prstGeom prst="rect">
            <a:avLst/>
          </a:prstGeom>
          <a:noFill/>
          <a:ln/>
        </p:spPr>
        <p:txBody>
          <a:bodyPr wrap="square" lIns="0" tIns="0" rIns="0" bIns="0" rtlCol="0" anchor="t"/>
          <a:lstStyle/>
          <a:p>
            <a:pPr marL="165100" indent="-165100">
              <a:lnSpc>
                <a:spcPts val="1863"/>
              </a:lnSpc>
              <a:spcAft>
                <a:spcPts val="600"/>
              </a:spcAft>
              <a:buSzPct val="100000"/>
              <a:buChar char="•"/>
            </a:pPr>
            <a:r>
              <a:rPr lang="en-US" sz="1350" dirty="0">
                <a:solidFill>
                  <a:srgbClr val="111111"/>
                </a:solidFill>
                <a:latin typeface="Cambria" pitchFamily="34" charset="0"/>
                <a:ea typeface="Cambria" pitchFamily="34" charset="-122"/>
                <a:cs typeface="Cambria" pitchFamily="34" charset="-120"/>
              </a:rPr>
              <a:t>Public chatbot — the question leaves the organization, and the article it cites may not support the claim</a:t>
            </a:r>
            <a:endParaRPr lang="en-US" sz="1350" dirty="0"/>
          </a:p>
          <a:p>
            <a:pPr marL="165100" indent="-165100">
              <a:lnSpc>
                <a:spcPts val="1863"/>
              </a:lnSpc>
              <a:spcAft>
                <a:spcPts val="600"/>
              </a:spcAft>
              <a:buSzPct val="100000"/>
              <a:buChar char="•"/>
            </a:pPr>
            <a:r>
              <a:rPr lang="en-US" sz="1350" dirty="0">
                <a:solidFill>
                  <a:srgbClr val="111111"/>
                </a:solidFill>
                <a:latin typeface="Cambria" pitchFamily="34" charset="0"/>
                <a:ea typeface="Cambria" pitchFamily="34" charset="-122"/>
                <a:cs typeface="Cambria" pitchFamily="34" charset="-120"/>
              </a:rPr>
              <a:t>Legal portal — authoritative text, but you must already know which document to open</a:t>
            </a:r>
            <a:endParaRPr lang="en-US" sz="1350" dirty="0"/>
          </a:p>
          <a:p>
            <a:pPr marL="165100" indent="-165100">
              <a:lnSpc>
                <a:spcPts val="1863"/>
              </a:lnSpc>
              <a:spcAft>
                <a:spcPts val="600"/>
              </a:spcAft>
              <a:buSzPct val="100000"/>
              <a:buChar char="•"/>
            </a:pPr>
            <a:r>
              <a:rPr lang="en-US" sz="1350" dirty="0">
                <a:solidFill>
                  <a:srgbClr val="111111"/>
                </a:solidFill>
                <a:latin typeface="Cambria" pitchFamily="34" charset="0"/>
                <a:ea typeface="Cambria" pitchFamily="34" charset="-122"/>
                <a:cs typeface="Cambria" pitchFamily="34" charset="-120"/>
              </a:rPr>
              <a:t>Commercial legal AI — mis-citation still measured in deployed tools (Magesh et al. 2025)</a:t>
            </a:r>
            <a:endParaRPr lang="en-US" sz="1350" dirty="0"/>
          </a:p>
        </p:txBody>
      </p:sp>
      <p:sp>
        <p:nvSpPr>
          <p:cNvPr id="10" name="Text 8"/>
          <p:cNvSpPr txBox="1"/>
          <p:nvPr/>
        </p:nvSpPr>
        <p:spPr>
          <a:xfrm>
            <a:off x="7315200" y="1298448"/>
            <a:ext cx="4206240"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Why an agent, not a script</a:t>
            </a:r>
            <a:endParaRPr lang="en-US" sz="1450" dirty="0"/>
          </a:p>
        </p:txBody>
      </p:sp>
      <p:sp>
        <p:nvSpPr>
          <p:cNvPr id="11" name="Text 9"/>
          <p:cNvSpPr txBox="1"/>
          <p:nvPr/>
        </p:nvSpPr>
        <p:spPr>
          <a:xfrm>
            <a:off x="7315200" y="1645920"/>
            <a:ext cx="4206240" cy="3291840"/>
          </a:xfrm>
          <a:prstGeom prst="rect">
            <a:avLst/>
          </a:prstGeom>
          <a:noFill/>
          <a:ln/>
        </p:spPr>
        <p:txBody>
          <a:bodyPr wrap="square" lIns="0" tIns="0" rIns="0" bIns="0" rtlCol="0" anchor="t"/>
          <a:lstStyle/>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A script fixes its control flow before it has seen any evidence.</a:t>
            </a:r>
            <a:endParaRPr lang="en-US" sz="1350" dirty="0"/>
          </a:p>
          <a:p>
            <a:pPr indent="0" marL="0">
              <a:lnSpc>
                <a:spcPts val="1917"/>
              </a:lnSpc>
              <a:buNone/>
            </a:pPr>
            <a:endParaRPr lang="en-US" sz="1350" dirty="0"/>
          </a:p>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Answer, ask, or refuse is a function of evidence that exists only after retrieval and verification.</a:t>
            </a:r>
            <a:endParaRPr lang="en-US" sz="1350" dirty="0"/>
          </a:p>
          <a:p>
            <a:pPr indent="0" marL="0">
              <a:lnSpc>
                <a:spcPts val="1917"/>
              </a:lnSpc>
              <a:buNone/>
            </a:pPr>
            <a:endParaRPr lang="en-US" sz="1350" dirty="0"/>
          </a:p>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Retrieve-once-then-generate must commit to answering. That commitment is the failure we target.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3</a:t>
            </a:r>
            <a:endParaRPr lang="en-US" sz="1000" dirty="0"/>
          </a:p>
        </p:txBody>
      </p:sp>
      <p:sp>
        <p:nvSpPr>
          <p:cNvPr id="3" name="Text 1"/>
          <p:cNvSpPr txBox="1"/>
          <p:nvPr/>
        </p:nvSpPr>
        <p:spPr>
          <a:xfrm>
            <a:off x="640080" y="402336"/>
            <a:ext cx="8714232" cy="50292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System architecture</a:t>
            </a:r>
            <a:endParaRPr lang="en-US" sz="2800" dirty="0"/>
          </a:p>
        </p:txBody>
      </p:sp>
      <p:sp>
        <p:nvSpPr>
          <p:cNvPr id="4" name="Text 2"/>
          <p:cNvSpPr txBox="1"/>
          <p:nvPr/>
        </p:nvSpPr>
        <p:spPr>
          <a:xfrm>
            <a:off x="9354312" y="493776"/>
            <a:ext cx="2194560" cy="274320"/>
          </a:xfrm>
          <a:prstGeom prst="rect">
            <a:avLst/>
          </a:prstGeom>
          <a:noFill/>
          <a:ln/>
        </p:spPr>
        <p:txBody>
          <a:bodyPr wrap="square" lIns="0" tIns="0" rIns="0" bIns="0" rtlCol="0" anchor="t"/>
          <a:lstStyle/>
          <a:p>
            <a:pPr algn="r" indent="0" marL="0">
              <a:buNone/>
            </a:pPr>
            <a:r>
              <a:rPr lang="en-US" sz="1200" dirty="0">
                <a:solidFill>
                  <a:srgbClr val="8C8C8C"/>
                </a:solidFill>
                <a:latin typeface="Cambria" pitchFamily="34" charset="0"/>
                <a:ea typeface="Cambria" pitchFamily="34" charset="-122"/>
                <a:cs typeface="Cambria" pitchFamily="34" charset="-120"/>
              </a:rPr>
              <a:t>0:30 – 1:30</a:t>
            </a:r>
            <a:endParaRPr lang="en-US" sz="1200" dirty="0"/>
          </a:p>
        </p:txBody>
      </p:sp>
      <p:pic>
        <p:nvPicPr>
          <p:cNvPr id="5" name="Image 0" descr="architecture.png">    </p:cNvPr>
          <p:cNvPicPr>
            <a:picLocks noChangeAspect="1"/>
          </p:cNvPicPr>
          <p:nvPr/>
        </p:nvPicPr>
        <p:blipFill>
          <a:blip r:embed="rId1"/>
          <a:stretch>
            <a:fillRect/>
          </a:stretch>
        </p:blipFill>
        <p:spPr>
          <a:xfrm>
            <a:off x="1005840" y="960120"/>
            <a:ext cx="10177272" cy="5715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4</a:t>
            </a:r>
            <a:endParaRPr lang="en-US" sz="1000" dirty="0"/>
          </a:p>
        </p:txBody>
      </p:sp>
      <p:sp>
        <p:nvSpPr>
          <p:cNvPr id="3" name="Text 1"/>
          <p:cNvSpPr txBox="1"/>
          <p:nvPr/>
        </p:nvSpPr>
        <p:spPr>
          <a:xfrm>
            <a:off x="640080" y="402336"/>
            <a:ext cx="8714232" cy="50292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Evaluation plan</a:t>
            </a:r>
            <a:endParaRPr lang="en-US" sz="2800" dirty="0"/>
          </a:p>
        </p:txBody>
      </p:sp>
      <p:sp>
        <p:nvSpPr>
          <p:cNvPr id="4" name="Text 2"/>
          <p:cNvSpPr txBox="1"/>
          <p:nvPr/>
        </p:nvSpPr>
        <p:spPr>
          <a:xfrm>
            <a:off x="9354312" y="493776"/>
            <a:ext cx="2194560" cy="274320"/>
          </a:xfrm>
          <a:prstGeom prst="rect">
            <a:avLst/>
          </a:prstGeom>
          <a:noFill/>
          <a:ln/>
        </p:spPr>
        <p:txBody>
          <a:bodyPr wrap="square" lIns="0" tIns="0" rIns="0" bIns="0" rtlCol="0" anchor="t"/>
          <a:lstStyle/>
          <a:p>
            <a:pPr algn="r" indent="0" marL="0">
              <a:buNone/>
            </a:pPr>
            <a:r>
              <a:rPr lang="en-US" sz="1200" dirty="0">
                <a:solidFill>
                  <a:srgbClr val="8C8C8C"/>
                </a:solidFill>
                <a:latin typeface="Cambria" pitchFamily="34" charset="0"/>
                <a:ea typeface="Cambria" pitchFamily="34" charset="-122"/>
                <a:cs typeface="Cambria" pitchFamily="34" charset="-120"/>
              </a:rPr>
              <a:t>1:30 – 2:15</a:t>
            </a:r>
            <a:endParaRPr lang="en-US" sz="1200" dirty="0"/>
          </a:p>
        </p:txBody>
      </p:sp>
      <p:sp>
        <p:nvSpPr>
          <p:cNvPr id="5" name="Text 3"/>
          <p:cNvSpPr txBox="1"/>
          <p:nvPr/>
        </p:nvSpPr>
        <p:spPr>
          <a:xfrm>
            <a:off x="640080" y="1280160"/>
            <a:ext cx="3520440"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Task sets</a:t>
            </a:r>
            <a:endParaRPr lang="en-US" sz="1450" dirty="0"/>
          </a:p>
        </p:txBody>
      </p:sp>
      <p:sp>
        <p:nvSpPr>
          <p:cNvPr id="6" name="Text 4"/>
          <p:cNvSpPr txBox="1"/>
          <p:nvPr/>
        </p:nvSpPr>
        <p:spPr>
          <a:xfrm>
            <a:off x="640080" y="1609344"/>
            <a:ext cx="3520440" cy="2468880"/>
          </a:xfrm>
          <a:prstGeom prst="rect">
            <a:avLst/>
          </a:prstGeom>
          <a:noFill/>
          <a:ln/>
        </p:spPr>
        <p:txBody>
          <a:bodyPr wrap="square" lIns="0" tIns="0" rIns="0" bIns="0" rtlCol="0" anchor="t"/>
          <a:lstStyle/>
          <a:p>
            <a:pPr marL="165100" indent="-165100">
              <a:lnSpc>
                <a:spcPts val="1725"/>
              </a:lnSpc>
              <a:spcAft>
                <a:spcPts val="600"/>
              </a:spcAft>
              <a:buSzPct val="100000"/>
              <a:buChar char="•"/>
            </a:pPr>
            <a:r>
              <a:rPr lang="en-US" sz="1250" dirty="0">
                <a:solidFill>
                  <a:srgbClr val="111111"/>
                </a:solidFill>
                <a:latin typeface="Cambria" pitchFamily="34" charset="0"/>
                <a:ea typeface="Cambria" pitchFamily="34" charset="-122"/>
                <a:cs typeface="Cambria" pitchFamily="34" charset="-120"/>
              </a:rPr>
              <a:t>200 held-out VLQA query-to-article pairs</a:t>
            </a:r>
            <a:endParaRPr lang="en-US" sz="1250" dirty="0"/>
          </a:p>
          <a:p>
            <a:pPr marL="165100" indent="-165100">
              <a:lnSpc>
                <a:spcPts val="1725"/>
              </a:lnSpc>
              <a:spcAft>
                <a:spcPts val="600"/>
              </a:spcAft>
              <a:buSzPct val="100000"/>
              <a:buChar char="•"/>
            </a:pPr>
            <a:r>
              <a:rPr lang="en-US" sz="1250" dirty="0">
                <a:solidFill>
                  <a:srgbClr val="111111"/>
                </a:solidFill>
                <a:latin typeface="Cambria" pitchFamily="34" charset="0"/>
                <a:ea typeface="Cambria" pitchFamily="34" charset="-122"/>
                <a:cs typeface="Cambria" pitchFamily="34" charset="-120"/>
              </a:rPr>
              <a:t>20 end-to-end tasks — 10 single-provision, 5 synthesis, 3 unanswerable, 2 adversarial</a:t>
            </a:r>
            <a:endParaRPr lang="en-US" sz="1250" dirty="0"/>
          </a:p>
          <a:p>
            <a:pPr marL="165100" indent="-165100">
              <a:lnSpc>
                <a:spcPts val="1725"/>
              </a:lnSpc>
              <a:spcAft>
                <a:spcPts val="600"/>
              </a:spcAft>
              <a:buSzPct val="100000"/>
              <a:buChar char="•"/>
            </a:pPr>
            <a:r>
              <a:rPr lang="en-US" sz="1250" dirty="0">
                <a:solidFill>
                  <a:srgbClr val="111111"/>
                </a:solidFill>
                <a:latin typeface="Cambria" pitchFamily="34" charset="0"/>
                <a:ea typeface="Cambria" pitchFamily="34" charset="-122"/>
                <a:cs typeface="Cambria" pitchFamily="34" charset="-120"/>
              </a:rPr>
              <a:t>≥ 10 injection and attack cases</a:t>
            </a:r>
            <a:endParaRPr lang="en-US" sz="1250" dirty="0"/>
          </a:p>
        </p:txBody>
      </p:sp>
      <p:sp>
        <p:nvSpPr>
          <p:cNvPr id="7" name="Text 5"/>
          <p:cNvSpPr txBox="1"/>
          <p:nvPr/>
        </p:nvSpPr>
        <p:spPr>
          <a:xfrm>
            <a:off x="4334256" y="1280160"/>
            <a:ext cx="3520440"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Metrics</a:t>
            </a:r>
            <a:endParaRPr lang="en-US" sz="1450" dirty="0"/>
          </a:p>
        </p:txBody>
      </p:sp>
      <p:sp>
        <p:nvSpPr>
          <p:cNvPr id="8" name="Text 6"/>
          <p:cNvSpPr txBox="1"/>
          <p:nvPr/>
        </p:nvSpPr>
        <p:spPr>
          <a:xfrm>
            <a:off x="4334256" y="1609344"/>
            <a:ext cx="3520440" cy="2468880"/>
          </a:xfrm>
          <a:prstGeom prst="rect">
            <a:avLst/>
          </a:prstGeom>
          <a:noFill/>
          <a:ln/>
        </p:spPr>
        <p:txBody>
          <a:bodyPr wrap="square" lIns="0" tIns="0" rIns="0" bIns="0" rtlCol="0" anchor="t"/>
          <a:lstStyle/>
          <a:p>
            <a:pPr marL="165100" indent="-165100">
              <a:lnSpc>
                <a:spcPts val="1725"/>
              </a:lnSpc>
              <a:spcAft>
                <a:spcPts val="600"/>
              </a:spcAft>
              <a:buSzPct val="100000"/>
              <a:buChar char="•"/>
            </a:pPr>
            <a:r>
              <a:rPr lang="en-US" sz="1250" dirty="0">
                <a:solidFill>
                  <a:srgbClr val="111111"/>
                </a:solidFill>
                <a:latin typeface="Cambria" pitchFamily="34" charset="0"/>
                <a:ea typeface="Cambria" pitchFamily="34" charset="-122"/>
                <a:cs typeface="Cambria" pitchFamily="34" charset="-120"/>
              </a:rPr>
              <a:t>Recall@5, Recall@20, MRR</a:t>
            </a:r>
            <a:endParaRPr lang="en-US" sz="1250" dirty="0"/>
          </a:p>
          <a:p>
            <a:pPr marL="165100" indent="-165100">
              <a:lnSpc>
                <a:spcPts val="1725"/>
              </a:lnSpc>
              <a:spcAft>
                <a:spcPts val="600"/>
              </a:spcAft>
              <a:buSzPct val="100000"/>
              <a:buChar char="•"/>
            </a:pPr>
            <a:r>
              <a:rPr lang="en-US" sz="1250" dirty="0">
                <a:solidFill>
                  <a:srgbClr val="111111"/>
                </a:solidFill>
                <a:latin typeface="Cambria" pitchFamily="34" charset="0"/>
                <a:ea typeface="Cambria" pitchFamily="34" charset="-122"/>
                <a:cs typeface="Cambria" pitchFamily="34" charset="-120"/>
              </a:rPr>
              <a:t>Unsupported-sentence rate, answer coverage</a:t>
            </a:r>
            <a:endParaRPr lang="en-US" sz="1250" dirty="0"/>
          </a:p>
          <a:p>
            <a:pPr marL="165100" indent="-165100">
              <a:lnSpc>
                <a:spcPts val="1725"/>
              </a:lnSpc>
              <a:spcAft>
                <a:spcPts val="600"/>
              </a:spcAft>
              <a:buSzPct val="100000"/>
              <a:buChar char="•"/>
            </a:pPr>
            <a:r>
              <a:rPr lang="en-US" sz="1250" dirty="0">
                <a:solidFill>
                  <a:srgbClr val="111111"/>
                </a:solidFill>
                <a:latin typeface="Cambria" pitchFamily="34" charset="0"/>
                <a:ea typeface="Cambria" pitchFamily="34" charset="-122"/>
                <a:cs typeface="Cambria" pitchFamily="34" charset="-120"/>
              </a:rPr>
              <a:t>Citation precision and recall, refusal correctness</a:t>
            </a:r>
            <a:endParaRPr lang="en-US" sz="1250" dirty="0"/>
          </a:p>
          <a:p>
            <a:pPr marL="165100" indent="-165100">
              <a:lnSpc>
                <a:spcPts val="1725"/>
              </a:lnSpc>
              <a:spcAft>
                <a:spcPts val="600"/>
              </a:spcAft>
              <a:buSzPct val="100000"/>
              <a:buChar char="•"/>
            </a:pPr>
            <a:r>
              <a:rPr lang="en-US" sz="1250" dirty="0">
                <a:solidFill>
                  <a:srgbClr val="111111"/>
                </a:solidFill>
                <a:latin typeface="Cambria" pitchFamily="34" charset="0"/>
                <a:ea typeface="Cambria" pitchFamily="34" charset="-122"/>
                <a:cs typeface="Cambria" pitchFamily="34" charset="-120"/>
              </a:rPr>
              <a:t>Attack-success rate, p50/p95 latency, compute cost</a:t>
            </a:r>
            <a:endParaRPr lang="en-US" sz="1250" dirty="0"/>
          </a:p>
        </p:txBody>
      </p:sp>
      <p:sp>
        <p:nvSpPr>
          <p:cNvPr id="9" name="Text 7"/>
          <p:cNvSpPr txBox="1"/>
          <p:nvPr/>
        </p:nvSpPr>
        <p:spPr>
          <a:xfrm>
            <a:off x="8028432" y="1280160"/>
            <a:ext cx="3520440"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Checking the checker</a:t>
            </a:r>
            <a:endParaRPr lang="en-US" sz="1450" dirty="0"/>
          </a:p>
        </p:txBody>
      </p:sp>
      <p:sp>
        <p:nvSpPr>
          <p:cNvPr id="10" name="Text 8"/>
          <p:cNvSpPr txBox="1"/>
          <p:nvPr/>
        </p:nvSpPr>
        <p:spPr>
          <a:xfrm>
            <a:off x="8028432" y="1609344"/>
            <a:ext cx="3520440" cy="2468880"/>
          </a:xfrm>
          <a:prstGeom prst="rect">
            <a:avLst/>
          </a:prstGeom>
          <a:noFill/>
          <a:ln/>
        </p:spPr>
        <p:txBody>
          <a:bodyPr wrap="square" lIns="0" tIns="0" rIns="0" bIns="0" rtlCol="0" anchor="t"/>
          <a:lstStyle/>
          <a:p>
            <a:pPr marL="165100" indent="-165100">
              <a:lnSpc>
                <a:spcPts val="1725"/>
              </a:lnSpc>
              <a:spcAft>
                <a:spcPts val="600"/>
              </a:spcAft>
              <a:buSzPct val="100000"/>
              <a:buChar char="•"/>
            </a:pPr>
            <a:r>
              <a:rPr lang="en-US" sz="1250" dirty="0">
                <a:solidFill>
                  <a:srgbClr val="111111"/>
                </a:solidFill>
                <a:latin typeface="Cambria" pitchFamily="34" charset="0"/>
                <a:ea typeface="Cambria" pitchFamily="34" charset="-122"/>
                <a:cs typeface="Cambria" pitchFamily="34" charset="-120"/>
              </a:rPr>
              <a:t>30 hand-labelled (claim, provision) pairs audit the verifier — support accuracy, false-refusal rate</a:t>
            </a:r>
            <a:endParaRPr lang="en-US" sz="1250" dirty="0"/>
          </a:p>
          <a:p>
            <a:pPr marL="165100" indent="-165100">
              <a:lnSpc>
                <a:spcPts val="1725"/>
              </a:lnSpc>
              <a:spcAft>
                <a:spcPts val="600"/>
              </a:spcAft>
              <a:buSzPct val="100000"/>
              <a:buChar char="•"/>
            </a:pPr>
            <a:r>
              <a:rPr lang="en-US" sz="1250" dirty="0">
                <a:solidFill>
                  <a:srgbClr val="111111"/>
                </a:solidFill>
                <a:latin typeface="Cambria" pitchFamily="34" charset="0"/>
                <a:ea typeface="Cambria" pitchFamily="34" charset="-122"/>
                <a:cs typeface="Cambria" pitchFamily="34" charset="-120"/>
              </a:rPr>
              <a:t>Utility and attack-success reported separately, so refusing everything scores no better</a:t>
            </a:r>
            <a:endParaRPr lang="en-US" sz="1250" dirty="0"/>
          </a:p>
          <a:p>
            <a:pPr marL="165100" indent="-165100">
              <a:lnSpc>
                <a:spcPts val="1725"/>
              </a:lnSpc>
              <a:spcAft>
                <a:spcPts val="600"/>
              </a:spcAft>
              <a:buSzPct val="100000"/>
              <a:buChar char="•"/>
            </a:pPr>
            <a:r>
              <a:rPr lang="en-US" sz="1250" dirty="0">
                <a:solidFill>
                  <a:srgbClr val="111111"/>
                </a:solidFill>
                <a:latin typeface="Cambria" pitchFamily="34" charset="0"/>
                <a:ea typeface="Cambria" pitchFamily="34" charset="-122"/>
                <a:cs typeface="Cambria" pitchFamily="34" charset="-120"/>
              </a:rPr>
              <a:t>Failures binned into 6 named categories</a:t>
            </a:r>
            <a:endParaRPr lang="en-US" sz="1250" dirty="0"/>
          </a:p>
        </p:txBody>
      </p:sp>
      <p:sp>
        <p:nvSpPr>
          <p:cNvPr id="11" name="Text 9"/>
          <p:cNvSpPr txBox="1"/>
          <p:nvPr/>
        </p:nvSpPr>
        <p:spPr>
          <a:xfrm>
            <a:off x="640080" y="3822192"/>
            <a:ext cx="10908792"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3 configurations × 3 seeds × 20 tasks = 180 end-to-end runs</a:t>
            </a:r>
            <a:endParaRPr lang="en-US" sz="1450" dirty="0"/>
          </a:p>
        </p:txBody>
      </p:sp>
      <p:sp>
        <p:nvSpPr>
          <p:cNvPr id="12" name="Text 10"/>
          <p:cNvSpPr txBox="1"/>
          <p:nvPr/>
        </p:nvSpPr>
        <p:spPr>
          <a:xfrm>
            <a:off x="640080" y="4237878"/>
            <a:ext cx="457200" cy="274320"/>
          </a:xfrm>
          <a:prstGeom prst="rect">
            <a:avLst/>
          </a:prstGeom>
          <a:noFill/>
          <a:ln/>
        </p:spPr>
        <p:txBody>
          <a:bodyPr wrap="square" lIns="0" tIns="0" rIns="0" bIns="0" rtlCol="0" anchor="t"/>
          <a:lstStyle/>
          <a:p>
            <a:pPr indent="0" marL="0">
              <a:buNone/>
            </a:pPr>
            <a:r>
              <a:rPr lang="en-US" sz="1300" b="1" dirty="0">
                <a:solidFill>
                  <a:srgbClr val="111111"/>
                </a:solidFill>
                <a:latin typeface="Cambria" pitchFamily="34" charset="0"/>
                <a:ea typeface="Cambria" pitchFamily="34" charset="-122"/>
                <a:cs typeface="Cambria" pitchFamily="34" charset="-120"/>
              </a:rPr>
              <a:t>A</a:t>
            </a:r>
            <a:endParaRPr lang="en-US" sz="1300" dirty="0"/>
          </a:p>
        </p:txBody>
      </p:sp>
      <p:sp>
        <p:nvSpPr>
          <p:cNvPr id="13" name="Text 11"/>
          <p:cNvSpPr txBox="1"/>
          <p:nvPr/>
        </p:nvSpPr>
        <p:spPr>
          <a:xfrm>
            <a:off x="1097280" y="4187952"/>
            <a:ext cx="10451592" cy="274320"/>
          </a:xfrm>
          <a:prstGeom prst="rect">
            <a:avLst/>
          </a:prstGeom>
          <a:noFill/>
          <a:ln/>
        </p:spPr>
        <p:txBody>
          <a:bodyPr wrap="square" lIns="0" tIns="0" rIns="0" bIns="0" rtlCol="0" anchor="t"/>
          <a:lstStyle/>
          <a:p>
            <a:pPr indent="0" marL="0">
              <a:lnSpc>
                <a:spcPts val="1846"/>
              </a:lnSpc>
              <a:buNone/>
            </a:pPr>
            <a:r>
              <a:rPr lang="en-US" sz="1300" dirty="0">
                <a:solidFill>
                  <a:srgbClr val="111111"/>
                </a:solidFill>
                <a:latin typeface="Cambria" pitchFamily="34" charset="0"/>
                <a:ea typeface="Cambria" pitchFamily="34" charset="-122"/>
                <a:cs typeface="Cambria" pitchFamily="34" charset="-120"/>
              </a:rPr>
              <a:t>local SLM, verification off</a:t>
            </a:r>
            <a:endParaRPr lang="en-US" sz="1300" dirty="0"/>
          </a:p>
        </p:txBody>
      </p:sp>
      <p:sp>
        <p:nvSpPr>
          <p:cNvPr id="14" name="Text 12"/>
          <p:cNvSpPr txBox="1"/>
          <p:nvPr/>
        </p:nvSpPr>
        <p:spPr>
          <a:xfrm>
            <a:off x="640080" y="4527184"/>
            <a:ext cx="457200" cy="274320"/>
          </a:xfrm>
          <a:prstGeom prst="rect">
            <a:avLst/>
          </a:prstGeom>
          <a:noFill/>
          <a:ln/>
        </p:spPr>
        <p:txBody>
          <a:bodyPr wrap="square" lIns="0" tIns="0" rIns="0" bIns="0" rtlCol="0" anchor="t"/>
          <a:lstStyle/>
          <a:p>
            <a:pPr indent="0" marL="0">
              <a:buNone/>
            </a:pPr>
            <a:r>
              <a:rPr lang="en-US" sz="1300" b="1" dirty="0">
                <a:solidFill>
                  <a:srgbClr val="111111"/>
                </a:solidFill>
                <a:latin typeface="Cambria" pitchFamily="34" charset="0"/>
                <a:ea typeface="Cambria" pitchFamily="34" charset="-122"/>
                <a:cs typeface="Cambria" pitchFamily="34" charset="-120"/>
              </a:rPr>
              <a:t>B</a:t>
            </a:r>
            <a:endParaRPr lang="en-US" sz="1300" dirty="0"/>
          </a:p>
        </p:txBody>
      </p:sp>
      <p:sp>
        <p:nvSpPr>
          <p:cNvPr id="15" name="Text 13"/>
          <p:cNvSpPr txBox="1"/>
          <p:nvPr/>
        </p:nvSpPr>
        <p:spPr>
          <a:xfrm>
            <a:off x="1097280" y="4477258"/>
            <a:ext cx="10451592" cy="274320"/>
          </a:xfrm>
          <a:prstGeom prst="rect">
            <a:avLst/>
          </a:prstGeom>
          <a:noFill/>
          <a:ln/>
        </p:spPr>
        <p:txBody>
          <a:bodyPr wrap="square" lIns="0" tIns="0" rIns="0" bIns="0" rtlCol="0" anchor="t"/>
          <a:lstStyle/>
          <a:p>
            <a:pPr indent="0" marL="0">
              <a:lnSpc>
                <a:spcPts val="1846"/>
              </a:lnSpc>
              <a:buNone/>
            </a:pPr>
            <a:r>
              <a:rPr lang="en-US" sz="1300" dirty="0">
                <a:solidFill>
                  <a:srgbClr val="111111"/>
                </a:solidFill>
                <a:latin typeface="Cambria" pitchFamily="34" charset="0"/>
                <a:ea typeface="Cambria" pitchFamily="34" charset="-122"/>
                <a:cs typeface="Cambria" pitchFamily="34" charset="-120"/>
              </a:rPr>
              <a:t>local SLM, verification on — A vs B isolates the mechanism we claim</a:t>
            </a:r>
            <a:endParaRPr lang="en-US" sz="1300" dirty="0"/>
          </a:p>
        </p:txBody>
      </p:sp>
      <p:sp>
        <p:nvSpPr>
          <p:cNvPr id="16" name="Text 14"/>
          <p:cNvSpPr txBox="1"/>
          <p:nvPr/>
        </p:nvSpPr>
        <p:spPr>
          <a:xfrm>
            <a:off x="640080" y="4816490"/>
            <a:ext cx="457200" cy="274320"/>
          </a:xfrm>
          <a:prstGeom prst="rect">
            <a:avLst/>
          </a:prstGeom>
          <a:noFill/>
          <a:ln/>
        </p:spPr>
        <p:txBody>
          <a:bodyPr wrap="square" lIns="0" tIns="0" rIns="0" bIns="0" rtlCol="0" anchor="t"/>
          <a:lstStyle/>
          <a:p>
            <a:pPr indent="0" marL="0">
              <a:buNone/>
            </a:pPr>
            <a:r>
              <a:rPr lang="en-US" sz="1300" b="1" dirty="0">
                <a:solidFill>
                  <a:srgbClr val="111111"/>
                </a:solidFill>
                <a:latin typeface="Cambria" pitchFamily="34" charset="0"/>
                <a:ea typeface="Cambria" pitchFamily="34" charset="-122"/>
                <a:cs typeface="Cambria" pitchFamily="34" charset="-120"/>
              </a:rPr>
              <a:t>C</a:t>
            </a:r>
            <a:endParaRPr lang="en-US" sz="1300" dirty="0"/>
          </a:p>
        </p:txBody>
      </p:sp>
      <p:sp>
        <p:nvSpPr>
          <p:cNvPr id="17" name="Text 15"/>
          <p:cNvSpPr txBox="1"/>
          <p:nvPr/>
        </p:nvSpPr>
        <p:spPr>
          <a:xfrm>
            <a:off x="1097280" y="4766564"/>
            <a:ext cx="10451592" cy="274320"/>
          </a:xfrm>
          <a:prstGeom prst="rect">
            <a:avLst/>
          </a:prstGeom>
          <a:noFill/>
          <a:ln/>
        </p:spPr>
        <p:txBody>
          <a:bodyPr wrap="square" lIns="0" tIns="0" rIns="0" bIns="0" rtlCol="0" anchor="t"/>
          <a:lstStyle/>
          <a:p>
            <a:pPr indent="0" marL="0">
              <a:lnSpc>
                <a:spcPts val="1846"/>
              </a:lnSpc>
              <a:buNone/>
            </a:pPr>
            <a:r>
              <a:rPr lang="en-US" sz="1300" dirty="0">
                <a:solidFill>
                  <a:srgbClr val="111111"/>
                </a:solidFill>
                <a:latin typeface="Cambria" pitchFamily="34" charset="0"/>
                <a:ea typeface="Cambria" pitchFamily="34" charset="-122"/>
                <a:cs typeface="Cambria" pitchFamily="34" charset="-120"/>
              </a:rPr>
              <a:t>Qwen3-32B self-hosted, verification on — bounds what local deployability costs in quality</a:t>
            </a:r>
            <a:endParaRPr lang="en-US" sz="1300" dirty="0"/>
          </a:p>
        </p:txBody>
      </p:sp>
      <p:sp>
        <p:nvSpPr>
          <p:cNvPr id="18" name="Text 16"/>
          <p:cNvSpPr txBox="1"/>
          <p:nvPr/>
        </p:nvSpPr>
        <p:spPr>
          <a:xfrm>
            <a:off x="640080" y="5449824"/>
            <a:ext cx="10908792" cy="457200"/>
          </a:xfrm>
          <a:prstGeom prst="rect">
            <a:avLst/>
          </a:prstGeom>
          <a:noFill/>
          <a:ln/>
        </p:spPr>
        <p:txBody>
          <a:bodyPr wrap="square" lIns="0" tIns="0" rIns="0" bIns="0" rtlCol="0" anchor="t"/>
          <a:lstStyle/>
          <a:p>
            <a:pPr indent="0" marL="0">
              <a:lnSpc>
                <a:spcPts val="1633"/>
              </a:lnSpc>
              <a:buNone/>
            </a:pPr>
            <a:r>
              <a:rPr lang="en-US" sz="1150" dirty="0">
                <a:solidFill>
                  <a:srgbClr val="595959"/>
                </a:solidFill>
                <a:latin typeface="Cambria" pitchFamily="34" charset="0"/>
                <a:ea typeface="Cambria" pitchFamily="34" charset="-122"/>
                <a:cs typeface="Cambria" pitchFamily="34" charset="-120"/>
              </a:rPr>
              <a:t>Seeds 42 / 123 / 2026 · mean ± variance, no claim inside one standard error · one full run with networking disabled · zero API spend, under 20 GPU-hours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5</a:t>
            </a:r>
            <a:endParaRPr lang="en-US" sz="1000" dirty="0"/>
          </a:p>
        </p:txBody>
      </p:sp>
      <p:sp>
        <p:nvSpPr>
          <p:cNvPr id="3" name="Text 1"/>
          <p:cNvSpPr txBox="1"/>
          <p:nvPr/>
        </p:nvSpPr>
        <p:spPr>
          <a:xfrm>
            <a:off x="640080" y="402336"/>
            <a:ext cx="8714232" cy="50292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Threat model v0</a:t>
            </a:r>
            <a:endParaRPr lang="en-US" sz="2800" dirty="0"/>
          </a:p>
        </p:txBody>
      </p:sp>
      <p:sp>
        <p:nvSpPr>
          <p:cNvPr id="4" name="Text 2"/>
          <p:cNvSpPr txBox="1"/>
          <p:nvPr/>
        </p:nvSpPr>
        <p:spPr>
          <a:xfrm>
            <a:off x="9354312" y="493776"/>
            <a:ext cx="2194560" cy="274320"/>
          </a:xfrm>
          <a:prstGeom prst="rect">
            <a:avLst/>
          </a:prstGeom>
          <a:noFill/>
          <a:ln/>
        </p:spPr>
        <p:txBody>
          <a:bodyPr wrap="square" lIns="0" tIns="0" rIns="0" bIns="0" rtlCol="0" anchor="t"/>
          <a:lstStyle/>
          <a:p>
            <a:pPr algn="r" indent="0" marL="0">
              <a:buNone/>
            </a:pPr>
            <a:r>
              <a:rPr lang="en-US" sz="1200" dirty="0">
                <a:solidFill>
                  <a:srgbClr val="8C8C8C"/>
                </a:solidFill>
                <a:latin typeface="Cambria" pitchFamily="34" charset="0"/>
                <a:ea typeface="Cambria" pitchFamily="34" charset="-122"/>
                <a:cs typeface="Cambria" pitchFamily="34" charset="-120"/>
              </a:rPr>
              <a:t>2:15 – 2:45</a:t>
            </a:r>
            <a:endParaRPr lang="en-US" sz="1200" dirty="0"/>
          </a:p>
        </p:txBody>
      </p:sp>
      <p:sp>
        <p:nvSpPr>
          <p:cNvPr id="5" name="Text 3"/>
          <p:cNvSpPr txBox="1"/>
          <p:nvPr/>
        </p:nvSpPr>
        <p:spPr>
          <a:xfrm>
            <a:off x="640080" y="1379647"/>
            <a:ext cx="1828800" cy="274320"/>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Assets</a:t>
            </a:r>
            <a:endParaRPr lang="en-US" sz="1400" dirty="0"/>
          </a:p>
        </p:txBody>
      </p:sp>
      <p:sp>
        <p:nvSpPr>
          <p:cNvPr id="6" name="Text 4"/>
          <p:cNvSpPr txBox="1"/>
          <p:nvPr/>
        </p:nvSpPr>
        <p:spPr>
          <a:xfrm>
            <a:off x="2468880" y="1325880"/>
            <a:ext cx="9079992" cy="274320"/>
          </a:xfrm>
          <a:prstGeom prst="rect">
            <a:avLst/>
          </a:prstGeom>
          <a:noFill/>
          <a:ln/>
        </p:spPr>
        <p:txBody>
          <a:bodyPr wrap="square" lIns="0" tIns="0" rIns="0" bIns="0" rtlCol="0" anchor="t"/>
          <a:lstStyle/>
          <a:p>
            <a:pPr indent="0" marL="0">
              <a:lnSpc>
                <a:spcPts val="1988"/>
              </a:lnSpc>
              <a:buNone/>
            </a:pPr>
            <a:r>
              <a:rPr lang="en-US" sz="1400" dirty="0">
                <a:solidFill>
                  <a:srgbClr val="111111"/>
                </a:solidFill>
                <a:latin typeface="Cambria" pitchFamily="34" charset="0"/>
                <a:ea typeface="Cambria" pitchFamily="34" charset="-122"/>
                <a:cs typeface="Cambria" pitchFamily="34" charset="-120"/>
              </a:rPr>
              <a:t>Answer correctness · user data · the audit trail · egress points</a:t>
            </a:r>
            <a:endParaRPr lang="en-US" sz="1400" dirty="0"/>
          </a:p>
        </p:txBody>
      </p:sp>
      <p:sp>
        <p:nvSpPr>
          <p:cNvPr id="7" name="Text 5"/>
          <p:cNvSpPr txBox="1"/>
          <p:nvPr/>
        </p:nvSpPr>
        <p:spPr>
          <a:xfrm>
            <a:off x="640080" y="1906443"/>
            <a:ext cx="1828800" cy="274320"/>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Entry points</a:t>
            </a:r>
            <a:endParaRPr lang="en-US" sz="1400" dirty="0"/>
          </a:p>
        </p:txBody>
      </p:sp>
      <p:sp>
        <p:nvSpPr>
          <p:cNvPr id="8" name="Text 6"/>
          <p:cNvSpPr txBox="1"/>
          <p:nvPr/>
        </p:nvSpPr>
        <p:spPr>
          <a:xfrm>
            <a:off x="2468880" y="1852676"/>
            <a:ext cx="9079992" cy="548640"/>
          </a:xfrm>
          <a:prstGeom prst="rect">
            <a:avLst/>
          </a:prstGeom>
          <a:noFill/>
          <a:ln/>
        </p:spPr>
        <p:txBody>
          <a:bodyPr wrap="square" lIns="0" tIns="0" rIns="0" bIns="0" rtlCol="0" anchor="t"/>
          <a:lstStyle/>
          <a:p>
            <a:pPr indent="0" marL="0">
              <a:lnSpc>
                <a:spcPts val="1988"/>
              </a:lnSpc>
              <a:buNone/>
            </a:pPr>
            <a:r>
              <a:rPr lang="en-US" sz="1400" dirty="0">
                <a:solidFill>
                  <a:srgbClr val="111111"/>
                </a:solidFill>
                <a:latin typeface="Cambria" pitchFamily="34" charset="0"/>
                <a:ea typeface="Cambria" pitchFamily="34" charset="-122"/>
                <a:cs typeface="Cambria" pitchFamily="34" charset="-120"/>
              </a:rPr>
              <a:t>The user question · a pasted document · retrieved article text · tool output · the send_summary payload, which is the only egress</a:t>
            </a:r>
            <a:endParaRPr lang="en-US" sz="1400" dirty="0"/>
          </a:p>
        </p:txBody>
      </p:sp>
      <p:sp>
        <p:nvSpPr>
          <p:cNvPr id="9" name="Text 7"/>
          <p:cNvSpPr txBox="1"/>
          <p:nvPr/>
        </p:nvSpPr>
        <p:spPr>
          <a:xfrm>
            <a:off x="640080" y="2685715"/>
            <a:ext cx="1828800" cy="274320"/>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Attacker</a:t>
            </a:r>
            <a:endParaRPr lang="en-US" sz="1400" dirty="0"/>
          </a:p>
        </p:txBody>
      </p:sp>
      <p:sp>
        <p:nvSpPr>
          <p:cNvPr id="10" name="Text 8"/>
          <p:cNvSpPr txBox="1"/>
          <p:nvPr/>
        </p:nvSpPr>
        <p:spPr>
          <a:xfrm>
            <a:off x="2468880" y="2631948"/>
            <a:ext cx="9079992" cy="548640"/>
          </a:xfrm>
          <a:prstGeom prst="rect">
            <a:avLst/>
          </a:prstGeom>
          <a:noFill/>
          <a:ln/>
        </p:spPr>
        <p:txBody>
          <a:bodyPr wrap="square" lIns="0" tIns="0" rIns="0" bIns="0" rtlCol="0" anchor="t"/>
          <a:lstStyle/>
          <a:p>
            <a:pPr indent="0" marL="0">
              <a:lnSpc>
                <a:spcPts val="1988"/>
              </a:lnSpc>
              <a:buNone/>
            </a:pPr>
            <a:r>
              <a:rPr lang="en-US" sz="1400" dirty="0">
                <a:solidFill>
                  <a:srgbClr val="111111"/>
                </a:solidFill>
                <a:latin typeface="Cambria" pitchFamily="34" charset="0"/>
                <a:ea typeface="Cambria" pitchFamily="34" charset="-122"/>
                <a:cs typeface="Cambria" pitchFamily="34" charset="-120"/>
              </a:rPr>
              <a:t>Can craft arbitrary queries and pasted documents, and can plant text inside content our own retriever returns. Cannot modify the trusted legal store or the code.</a:t>
            </a:r>
            <a:endParaRPr lang="en-US" sz="1400" dirty="0"/>
          </a:p>
        </p:txBody>
      </p:sp>
      <p:sp>
        <p:nvSpPr>
          <p:cNvPr id="11" name="Text 9"/>
          <p:cNvSpPr txBox="1"/>
          <p:nvPr/>
        </p:nvSpPr>
        <p:spPr>
          <a:xfrm>
            <a:off x="640080" y="3464987"/>
            <a:ext cx="1828800" cy="274320"/>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Mitigation</a:t>
            </a:r>
            <a:endParaRPr lang="en-US" sz="1400" dirty="0"/>
          </a:p>
        </p:txBody>
      </p:sp>
      <p:sp>
        <p:nvSpPr>
          <p:cNvPr id="12" name="Text 10"/>
          <p:cNvSpPr txBox="1"/>
          <p:nvPr/>
        </p:nvSpPr>
        <p:spPr>
          <a:xfrm>
            <a:off x="2468880" y="3411220"/>
            <a:ext cx="9079992" cy="548640"/>
          </a:xfrm>
          <a:prstGeom prst="rect">
            <a:avLst/>
          </a:prstGeom>
          <a:noFill/>
          <a:ln/>
        </p:spPr>
        <p:txBody>
          <a:bodyPr wrap="square" lIns="0" tIns="0" rIns="0" bIns="0" rtlCol="0" anchor="t"/>
          <a:lstStyle/>
          <a:p>
            <a:pPr indent="0" marL="0">
              <a:lnSpc>
                <a:spcPts val="1988"/>
              </a:lnSpc>
              <a:buNone/>
            </a:pPr>
            <a:r>
              <a:rPr lang="en-US" sz="1400" dirty="0">
                <a:solidFill>
                  <a:srgbClr val="111111"/>
                </a:solidFill>
                <a:latin typeface="Cambria" pitchFamily="34" charset="0"/>
                <a:ea typeface="Cambria" pitchFamily="34" charset="-122"/>
                <a:cs typeface="Cambria" pitchFamily="34" charset="-120"/>
              </a:rPr>
              <a:t>Pasted and retrieved text is tagged untrusted and can never alter control policy or tool permissions. Read-only by default; the single egress needs explicit human confirmation and is logged before it leaves.</a:t>
            </a:r>
            <a:endParaRPr lang="en-US" sz="1400" dirty="0"/>
          </a:p>
        </p:txBody>
      </p:sp>
      <p:sp>
        <p:nvSpPr>
          <p:cNvPr id="13" name="Text 11"/>
          <p:cNvSpPr txBox="1"/>
          <p:nvPr/>
        </p:nvSpPr>
        <p:spPr>
          <a:xfrm>
            <a:off x="640080" y="4244259"/>
            <a:ext cx="1828800" cy="274320"/>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Tested by</a:t>
            </a:r>
            <a:endParaRPr lang="en-US" sz="1400" dirty="0"/>
          </a:p>
        </p:txBody>
      </p:sp>
      <p:sp>
        <p:nvSpPr>
          <p:cNvPr id="14" name="Text 12"/>
          <p:cNvSpPr txBox="1"/>
          <p:nvPr/>
        </p:nvSpPr>
        <p:spPr>
          <a:xfrm>
            <a:off x="2468880" y="4190492"/>
            <a:ext cx="9079992" cy="548640"/>
          </a:xfrm>
          <a:prstGeom prst="rect">
            <a:avLst/>
          </a:prstGeom>
          <a:noFill/>
          <a:ln/>
        </p:spPr>
        <p:txBody>
          <a:bodyPr wrap="square" lIns="0" tIns="0" rIns="0" bIns="0" rtlCol="0" anchor="t"/>
          <a:lstStyle/>
          <a:p>
            <a:pPr indent="0" marL="0">
              <a:lnSpc>
                <a:spcPts val="1988"/>
              </a:lnSpc>
              <a:buNone/>
            </a:pPr>
            <a:r>
              <a:rPr lang="en-US" sz="1400" dirty="0">
                <a:solidFill>
                  <a:srgbClr val="111111"/>
                </a:solidFill>
                <a:latin typeface="Cambria" pitchFamily="34" charset="0"/>
                <a:ea typeface="Cambria" pitchFamily="34" charset="-122"/>
                <a:cs typeface="Cambria" pitchFamily="34" charset="-120"/>
              </a:rPr>
              <a:t>An attack suite of ≥ 10 cases — 4 direct in the user turn, 4 carried by a pasted document, and ≥ 2 planted in our own retrieved content via a poisoned index shard.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6</a:t>
            </a:r>
            <a:endParaRPr lang="en-US" sz="1000" dirty="0"/>
          </a:p>
        </p:txBody>
      </p:sp>
      <p:sp>
        <p:nvSpPr>
          <p:cNvPr id="3" name="Text 1"/>
          <p:cNvSpPr txBox="1"/>
          <p:nvPr/>
        </p:nvSpPr>
        <p:spPr>
          <a:xfrm>
            <a:off x="640080" y="402336"/>
            <a:ext cx="8714232" cy="50292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Riskiest assumption</a:t>
            </a:r>
            <a:endParaRPr lang="en-US" sz="2800" dirty="0"/>
          </a:p>
        </p:txBody>
      </p:sp>
      <p:sp>
        <p:nvSpPr>
          <p:cNvPr id="4" name="Text 2"/>
          <p:cNvSpPr txBox="1"/>
          <p:nvPr/>
        </p:nvSpPr>
        <p:spPr>
          <a:xfrm>
            <a:off x="9354312" y="493776"/>
            <a:ext cx="2194560" cy="274320"/>
          </a:xfrm>
          <a:prstGeom prst="rect">
            <a:avLst/>
          </a:prstGeom>
          <a:noFill/>
          <a:ln/>
        </p:spPr>
        <p:txBody>
          <a:bodyPr wrap="square" lIns="0" tIns="0" rIns="0" bIns="0" rtlCol="0" anchor="t"/>
          <a:lstStyle/>
          <a:p>
            <a:pPr algn="r" indent="0" marL="0">
              <a:buNone/>
            </a:pPr>
            <a:r>
              <a:rPr lang="en-US" sz="1200" dirty="0">
                <a:solidFill>
                  <a:srgbClr val="8C8C8C"/>
                </a:solidFill>
                <a:latin typeface="Cambria" pitchFamily="34" charset="0"/>
                <a:ea typeface="Cambria" pitchFamily="34" charset="-122"/>
                <a:cs typeface="Cambria" pitchFamily="34" charset="-120"/>
              </a:rPr>
              <a:t>2:45 – 3:00</a:t>
            </a:r>
            <a:endParaRPr lang="en-US" sz="1200" dirty="0"/>
          </a:p>
        </p:txBody>
      </p:sp>
      <p:sp>
        <p:nvSpPr>
          <p:cNvPr id="5" name="Text 3"/>
          <p:cNvSpPr txBox="1"/>
          <p:nvPr/>
        </p:nvSpPr>
        <p:spPr>
          <a:xfrm>
            <a:off x="640080" y="1371600"/>
            <a:ext cx="10451592" cy="914400"/>
          </a:xfrm>
          <a:prstGeom prst="rect">
            <a:avLst/>
          </a:prstGeom>
          <a:noFill/>
          <a:ln/>
        </p:spPr>
        <p:txBody>
          <a:bodyPr wrap="square" lIns="0" tIns="0" rIns="0" bIns="0" rtlCol="0" anchor="t"/>
          <a:lstStyle/>
          <a:p>
            <a:pPr indent="0" marL="0">
              <a:lnSpc>
                <a:spcPts val="2800"/>
              </a:lnSpc>
              <a:buNone/>
            </a:pPr>
            <a:r>
              <a:rPr lang="en-US" sz="1900" dirty="0">
                <a:solidFill>
                  <a:srgbClr val="111111"/>
                </a:solidFill>
                <a:latin typeface="Cambria" pitchFamily="34" charset="0"/>
                <a:ea typeface="Cambria" pitchFamily="34" charset="-122"/>
                <a:cs typeface="Cambria" pitchFamily="34" charset="-120"/>
              </a:rPr>
              <a:t>That a 4–8B local model can stay inside a five-action, five-call loop, recover from a failed evidence check, and do it often enough to measure something.</a:t>
            </a:r>
            <a:endParaRPr lang="en-US" sz="1900" dirty="0"/>
          </a:p>
        </p:txBody>
      </p:sp>
      <p:sp>
        <p:nvSpPr>
          <p:cNvPr id="6" name="Text 4"/>
          <p:cNvSpPr txBox="1"/>
          <p:nvPr/>
        </p:nvSpPr>
        <p:spPr>
          <a:xfrm>
            <a:off x="640080" y="2751247"/>
            <a:ext cx="1828800" cy="274320"/>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If wrong</a:t>
            </a:r>
            <a:endParaRPr lang="en-US" sz="1400" dirty="0"/>
          </a:p>
        </p:txBody>
      </p:sp>
      <p:sp>
        <p:nvSpPr>
          <p:cNvPr id="7" name="Text 5"/>
          <p:cNvSpPr txBox="1"/>
          <p:nvPr/>
        </p:nvSpPr>
        <p:spPr>
          <a:xfrm>
            <a:off x="2468880" y="2697480"/>
            <a:ext cx="9079992" cy="548640"/>
          </a:xfrm>
          <a:prstGeom prst="rect">
            <a:avLst/>
          </a:prstGeom>
          <a:noFill/>
          <a:ln/>
        </p:spPr>
        <p:txBody>
          <a:bodyPr wrap="square" lIns="0" tIns="0" rIns="0" bIns="0" rtlCol="0" anchor="t"/>
          <a:lstStyle/>
          <a:p>
            <a:pPr indent="0" marL="0">
              <a:lnSpc>
                <a:spcPts val="1988"/>
              </a:lnSpc>
              <a:buNone/>
            </a:pPr>
            <a:r>
              <a:rPr lang="en-US" sz="1400" dirty="0">
                <a:solidFill>
                  <a:srgbClr val="111111"/>
                </a:solidFill>
                <a:latin typeface="Cambria" pitchFamily="34" charset="0"/>
                <a:ea typeface="Cambria" pitchFamily="34" charset="-122"/>
                <a:cs typeface="Cambria" pitchFamily="34" charset="-120"/>
              </a:rPr>
              <a:t>4B, then 8B, then the 32B configuration — schema-constrained output and hard budgets throughout. Deterministic L1 citation validation is the floor and is never removed.</a:t>
            </a:r>
            <a:endParaRPr lang="en-US" sz="1400" dirty="0"/>
          </a:p>
        </p:txBody>
      </p:sp>
      <p:sp>
        <p:nvSpPr>
          <p:cNvPr id="8" name="Text 6"/>
          <p:cNvSpPr txBox="1"/>
          <p:nvPr/>
        </p:nvSpPr>
        <p:spPr>
          <a:xfrm>
            <a:off x="640080" y="3530519"/>
            <a:ext cx="1828800" cy="274320"/>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Checked in W3</a:t>
            </a:r>
            <a:endParaRPr lang="en-US" sz="1400" dirty="0"/>
          </a:p>
        </p:txBody>
      </p:sp>
      <p:sp>
        <p:nvSpPr>
          <p:cNvPr id="9" name="Text 7"/>
          <p:cNvSpPr txBox="1"/>
          <p:nvPr/>
        </p:nvSpPr>
        <p:spPr>
          <a:xfrm>
            <a:off x="2468880" y="3476752"/>
            <a:ext cx="9079992" cy="548640"/>
          </a:xfrm>
          <a:prstGeom prst="rect">
            <a:avLst/>
          </a:prstGeom>
          <a:noFill/>
          <a:ln/>
        </p:spPr>
        <p:txBody>
          <a:bodyPr wrap="square" lIns="0" tIns="0" rIns="0" bIns="0" rtlCol="0" anchor="t"/>
          <a:lstStyle/>
          <a:p>
            <a:pPr indent="0" marL="0">
              <a:lnSpc>
                <a:spcPts val="1988"/>
              </a:lnSpc>
              <a:buNone/>
            </a:pPr>
            <a:r>
              <a:rPr lang="en-US" sz="1400" dirty="0">
                <a:solidFill>
                  <a:srgbClr val="111111"/>
                </a:solidFill>
                <a:latin typeface="Cambria" pitchFamily="34" charset="0"/>
                <a:ea typeface="Cambria" pitchFamily="34" charset="-122"/>
                <a:cs typeface="Cambria" pitchFamily="34" charset="-120"/>
              </a:rPr>
              <a:t>Whether VLQA carries article-level gold labels, before the build starts. If it does not, all 20 end-to-end tasks are hand-authored.</a:t>
            </a:r>
            <a:endParaRPr lang="en-US" sz="1400" dirty="0"/>
          </a:p>
        </p:txBody>
      </p:sp>
      <p:sp>
        <p:nvSpPr>
          <p:cNvPr id="10" name="Text 8"/>
          <p:cNvSpPr txBox="1"/>
          <p:nvPr/>
        </p:nvSpPr>
        <p:spPr>
          <a:xfrm>
            <a:off x="640080" y="4309791"/>
            <a:ext cx="1828800" cy="274320"/>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Cut order</a:t>
            </a:r>
            <a:endParaRPr lang="en-US" sz="1400" dirty="0"/>
          </a:p>
        </p:txBody>
      </p:sp>
      <p:sp>
        <p:nvSpPr>
          <p:cNvPr id="11" name="Text 9"/>
          <p:cNvSpPr txBox="1"/>
          <p:nvPr/>
        </p:nvSpPr>
        <p:spPr>
          <a:xfrm>
            <a:off x="2468880" y="4256024"/>
            <a:ext cx="9079992" cy="274320"/>
          </a:xfrm>
          <a:prstGeom prst="rect">
            <a:avLst/>
          </a:prstGeom>
          <a:noFill/>
          <a:ln/>
        </p:spPr>
        <p:txBody>
          <a:bodyPr wrap="square" lIns="0" tIns="0" rIns="0" bIns="0" rtlCol="0" anchor="t"/>
          <a:lstStyle/>
          <a:p>
            <a:pPr indent="0" marL="0">
              <a:lnSpc>
                <a:spcPts val="1988"/>
              </a:lnSpc>
              <a:buNone/>
            </a:pPr>
            <a:r>
              <a:rPr lang="en-US" sz="1400" dirty="0">
                <a:solidFill>
                  <a:srgbClr val="111111"/>
                </a:solidFill>
                <a:latin typeface="Cambria" pitchFamily="34" charset="0"/>
                <a:ea typeface="Cambria" pitchFamily="34" charset="-122"/>
                <a:cs typeface="Cambria" pitchFamily="34" charset="-120"/>
              </a:rPr>
              <a:t>reranker and semantic-entailment ablations, then verifier audit size, then the 32B comparator</a:t>
            </a:r>
            <a:endParaRPr lang="en-US" sz="1400" dirty="0"/>
          </a:p>
        </p:txBody>
      </p:sp>
      <p:sp>
        <p:nvSpPr>
          <p:cNvPr id="12" name="Text 10"/>
          <p:cNvSpPr txBox="1"/>
          <p:nvPr/>
        </p:nvSpPr>
        <p:spPr>
          <a:xfrm>
            <a:off x="640080" y="4836587"/>
            <a:ext cx="1828800" cy="274320"/>
          </a:xfrm>
          <a:prstGeom prst="rect">
            <a:avLst/>
          </a:prstGeom>
          <a:noFill/>
          <a:ln/>
        </p:spPr>
        <p:txBody>
          <a:bodyPr wrap="square" lIns="0" tIns="0" rIns="0" bIns="0" rtlCol="0" anchor="t"/>
          <a:lstStyle/>
          <a:p>
            <a:pPr indent="0" marL="0">
              <a:buNone/>
            </a:pPr>
            <a:r>
              <a:rPr lang="en-US" sz="1400" b="1" dirty="0">
                <a:solidFill>
                  <a:srgbClr val="111111"/>
                </a:solidFill>
                <a:latin typeface="Cambria" pitchFamily="34" charset="0"/>
                <a:ea typeface="Cambria" pitchFamily="34" charset="-122"/>
                <a:cs typeface="Cambria" pitchFamily="34" charset="-120"/>
              </a:rPr>
              <a:t>Never cut</a:t>
            </a:r>
            <a:endParaRPr lang="en-US" sz="1400" dirty="0"/>
          </a:p>
        </p:txBody>
      </p:sp>
      <p:sp>
        <p:nvSpPr>
          <p:cNvPr id="13" name="Text 11"/>
          <p:cNvSpPr txBox="1"/>
          <p:nvPr/>
        </p:nvSpPr>
        <p:spPr>
          <a:xfrm>
            <a:off x="2468880" y="4782820"/>
            <a:ext cx="9079992" cy="548640"/>
          </a:xfrm>
          <a:prstGeom prst="rect">
            <a:avLst/>
          </a:prstGeom>
          <a:noFill/>
          <a:ln/>
        </p:spPr>
        <p:txBody>
          <a:bodyPr wrap="square" lIns="0" tIns="0" rIns="0" bIns="0" rtlCol="0" anchor="t"/>
          <a:lstStyle/>
          <a:p>
            <a:pPr indent="0" marL="0">
              <a:lnSpc>
                <a:spcPts val="1988"/>
              </a:lnSpc>
              <a:buNone/>
            </a:pPr>
            <a:r>
              <a:rPr lang="en-US" sz="1400" dirty="0">
                <a:solidFill>
                  <a:srgbClr val="111111"/>
                </a:solidFill>
                <a:latin typeface="Cambria" pitchFamily="34" charset="0"/>
                <a:ea typeface="Cambria" pitchFamily="34" charset="-122"/>
                <a:cs typeface="Cambria" pitchFamily="34" charset="-120"/>
              </a:rPr>
              <a:t>control loop · hybrid retrieval · L1 + span verification · long-term store · guardrails · 20 tasks with one ablation · security analysis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7</a:t>
            </a:r>
            <a:endParaRPr lang="en-US" sz="1000" dirty="0"/>
          </a:p>
        </p:txBody>
      </p:sp>
      <p:sp>
        <p:nvSpPr>
          <p:cNvPr id="3" name="Text 1"/>
          <p:cNvSpPr txBox="1"/>
          <p:nvPr/>
        </p:nvSpPr>
        <p:spPr>
          <a:xfrm>
            <a:off x="640080" y="3017520"/>
            <a:ext cx="10908792" cy="548640"/>
          </a:xfrm>
          <a:prstGeom prst="rect">
            <a:avLst/>
          </a:prstGeom>
          <a:noFill/>
          <a:ln/>
        </p:spPr>
        <p:txBody>
          <a:bodyPr wrap="square" lIns="0" tIns="0" rIns="0" bIns="0" rtlCol="0" anchor="t"/>
          <a:lstStyle/>
          <a:p>
            <a:pPr algn="ctr" indent="0" marL="0">
              <a:lnSpc>
                <a:spcPts val="4260"/>
              </a:lnSpc>
              <a:buNone/>
            </a:pPr>
            <a:r>
              <a:rPr lang="en-US" sz="3000" b="1" dirty="0">
                <a:solidFill>
                  <a:srgbClr val="111111"/>
                </a:solidFill>
                <a:latin typeface="Cambria" pitchFamily="34" charset="0"/>
                <a:ea typeface="Cambria" pitchFamily="34" charset="-122"/>
                <a:cs typeface="Cambria" pitchFamily="34" charset="-120"/>
              </a:rPr>
              <a:t>Backup</a:t>
            </a:r>
            <a:endParaRPr lang="en-US" sz="3000" dirty="0"/>
          </a:p>
        </p:txBody>
      </p:sp>
      <p:sp>
        <p:nvSpPr>
          <p:cNvPr id="4" name="Text 2"/>
          <p:cNvSpPr txBox="1"/>
          <p:nvPr/>
        </p:nvSpPr>
        <p:spPr>
          <a:xfrm>
            <a:off x="640080" y="3657600"/>
            <a:ext cx="10908792" cy="365760"/>
          </a:xfrm>
          <a:prstGeom prst="rect">
            <a:avLst/>
          </a:prstGeom>
          <a:noFill/>
          <a:ln/>
        </p:spPr>
        <p:txBody>
          <a:bodyPr wrap="square" lIns="0" tIns="0" rIns="0" bIns="0" rtlCol="0" anchor="t"/>
          <a:lstStyle/>
          <a:p>
            <a:pPr algn="ctr" indent="0" marL="0">
              <a:lnSpc>
                <a:spcPts val="1846"/>
              </a:lnSpc>
              <a:buNone/>
            </a:pPr>
            <a:r>
              <a:rPr lang="en-US" sz="1300" dirty="0">
                <a:solidFill>
                  <a:srgbClr val="595959"/>
                </a:solidFill>
                <a:latin typeface="Cambria" pitchFamily="34" charset="0"/>
                <a:ea typeface="Cambria" pitchFamily="34" charset="-122"/>
                <a:cs typeface="Cambria" pitchFamily="34" charset="-120"/>
              </a:rPr>
              <a:t>Novelty · hardest design decision · who it matters to · week plan · requirement map · references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8</a:t>
            </a:r>
            <a:endParaRPr lang="en-US" sz="1000" dirty="0"/>
          </a:p>
        </p:txBody>
      </p:sp>
      <p:sp>
        <p:nvSpPr>
          <p:cNvPr id="3" name="Text 1"/>
          <p:cNvSpPr txBox="1"/>
          <p:nvPr/>
        </p:nvSpPr>
        <p:spPr>
          <a:xfrm>
            <a:off x="640080" y="402336"/>
            <a:ext cx="8714232" cy="50292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Novelty: each existing option fails on a different axis</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08792" cy="914400"/>
        </p:xfrm>
        <a:graphic>
          <a:graphicData uri="http://schemas.openxmlformats.org/drawingml/2006/table">
            <a:tbl>
              <a:tblPr/>
              <a:tblGrid>
                <a:gridCol w="2834640"/>
                <a:gridCol w="4114800"/>
                <a:gridCol w="3959352"/>
              </a:tblGrid>
              <a:tr h="365760">
                <a:tc>
                  <a:txBody>
                    <a:bodyPr/>
                    <a:lstStyle/>
                    <a:p>
                      <a:pPr indent="0" marL="0">
                        <a:buNone/>
                      </a:pPr>
                      <a:r>
                        <a:rPr lang="en-US" sz="1200" b="1" dirty="0">
                          <a:solidFill>
                            <a:srgbClr val="111111"/>
                          </a:solidFill>
                          <a:latin typeface="Cambria" pitchFamily="34" charset="0"/>
                          <a:ea typeface="Cambria" pitchFamily="34" charset="-122"/>
                          <a:cs typeface="Cambria" pitchFamily="34" charset="-120"/>
                        </a:rPr>
                        <a:t>Existing approach</a:t>
                      </a:r>
                      <a:endParaRPr lang="en-US" sz="1200" dirty="0">
                        <a:latin typeface="Cambria" charset="0"/>
                        <a:ea typeface="Cambria" charset="0"/>
                        <a:cs typeface="Cambria" charset="0"/>
                      </a:endParaRPr>
                    </a:p>
                  </a:txBody>
                  <a:tcPr marL="114300" marR="114300" marT="88900" marB="88900" anchor="ctr">
                    <a:lnL w="0" cap="flat" cmpd="sng" algn="ctr">
                      <a:noFill/>
                    </a:lnL>
                    <a:lnR w="0" cap="flat" cmpd="sng" algn="ctr">
                      <a:noFill/>
                    </a:lnR>
                    <a:lnT w="15875"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Cambria" pitchFamily="34" charset="0"/>
                          <a:ea typeface="Cambria" pitchFamily="34" charset="-122"/>
                          <a:cs typeface="Cambria" pitchFamily="34" charset="-120"/>
                        </a:rPr>
                        <a:t>Where it fails</a:t>
                      </a:r>
                      <a:endParaRPr lang="en-US" sz="1200" dirty="0">
                        <a:latin typeface="Cambria" charset="0"/>
                        <a:ea typeface="Cambria" charset="0"/>
                        <a:cs typeface="Cambria" charset="0"/>
                      </a:endParaRPr>
                    </a:p>
                  </a:txBody>
                  <a:tcPr marL="114300" marR="114300" marT="88900" marB="88900" anchor="ctr">
                    <a:lnL w="0" cap="flat" cmpd="sng" algn="ctr">
                      <a:noFill/>
                    </a:lnL>
                    <a:lnR w="0" cap="flat" cmpd="sng" algn="ctr">
                      <a:noFill/>
                    </a:lnR>
                    <a:lnT w="15875"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Cambria" pitchFamily="34" charset="0"/>
                          <a:ea typeface="Cambria" pitchFamily="34" charset="-122"/>
                          <a:cs typeface="Cambria" pitchFamily="34" charset="-120"/>
                        </a:rPr>
                        <a:t>What LuatCheck does</a:t>
                      </a:r>
                      <a:endParaRPr lang="en-US" sz="1200" dirty="0">
                        <a:latin typeface="Cambria" charset="0"/>
                        <a:ea typeface="Cambria" charset="0"/>
                        <a:cs typeface="Cambria" charset="0"/>
                      </a:endParaRPr>
                    </a:p>
                  </a:txBody>
                  <a:tcPr marL="114300" marR="114300" marT="88900" marB="88900" anchor="ctr">
                    <a:lnL w="0" cap="flat" cmpd="sng" algn="ctr">
                      <a:noFill/>
                    </a:lnL>
                    <a:lnR w="0" cap="flat" cmpd="sng" algn="ctr">
                      <a:noFill/>
                    </a:lnR>
                    <a:lnT w="15875"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FFFFFF"/>
                    </a:solidFill>
                  </a:tcPr>
                </a:tc>
              </a:tr>
              <a:tr h="658368">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General AI assistant</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Data leaves the organization; citations may be unsupported</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Local inference, per-claim evidence verification</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658368">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Legal information portal</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Authoritative, but you must know which document to open</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Conversational search over the same trusted text</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658368">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One-shot RAG chatbot</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Retrieves once, then generates unchecked claims</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Adaptive search, repair, clarification, or refusal</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658368">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Commercial legal AI</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15875"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Measured to still mis-support citations</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15875"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50" dirty="0">
                          <a:solidFill>
                            <a:srgbClr val="111111"/>
                          </a:solidFill>
                          <a:latin typeface="Cambria" pitchFamily="34" charset="0"/>
                          <a:ea typeface="Cambria" pitchFamily="34" charset="-122"/>
                          <a:cs typeface="Cambria" pitchFamily="34" charset="-120"/>
                        </a:rPr>
                        <a:t>Claim-level grounding that we measure and report</a:t>
                      </a:r>
                      <a:endParaRPr lang="en-US" sz="12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15875" cap="flat" cmpd="sng" algn="ctr">
                      <a:solidFill>
                        <a:srgbClr val="11111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074920"/>
            <a:ext cx="10908792" cy="914400"/>
          </a:xfrm>
          <a:prstGeom prst="rect">
            <a:avLst/>
          </a:prstGeom>
          <a:noFill/>
          <a:ln/>
        </p:spPr>
        <p:txBody>
          <a:bodyPr wrap="square" lIns="0" tIns="0" rIns="0" bIns="0" rtlCol="0" anchor="t"/>
          <a:lstStyle/>
          <a:p>
            <a:pPr indent="0" marL="0">
              <a:lnSpc>
                <a:spcPts val="1846"/>
              </a:lnSpc>
              <a:buNone/>
            </a:pPr>
            <a:r>
              <a:rPr lang="en-US" sz="1300" dirty="0">
                <a:solidFill>
                  <a:srgbClr val="111111"/>
                </a:solidFill>
                <a:latin typeface="Cambria" pitchFamily="34" charset="0"/>
                <a:ea typeface="Cambria" pitchFamily="34" charset="-122"/>
                <a:cs typeface="Cambria" pitchFamily="34" charset="-120"/>
              </a:rPr>
              <a:t>The combination is the contribution: local deployment, a per-claim evidence check, and an explicit refusal path. There is no tool we could simply configure to get all three. We do not propose a new foundation model or a new retriever.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9</a:t>
            </a:r>
            <a:endParaRPr lang="en-US" sz="1000" dirty="0"/>
          </a:p>
        </p:txBody>
      </p:sp>
      <p:sp>
        <p:nvSpPr>
          <p:cNvPr id="3" name="Text 1"/>
          <p:cNvSpPr txBox="1"/>
          <p:nvPr/>
        </p:nvSpPr>
        <p:spPr>
          <a:xfrm>
            <a:off x="640080" y="402336"/>
            <a:ext cx="8714232" cy="50292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Hardest design decision</a:t>
            </a:r>
            <a:endParaRPr lang="en-US" sz="2800" dirty="0"/>
          </a:p>
        </p:txBody>
      </p:sp>
      <p:sp>
        <p:nvSpPr>
          <p:cNvPr id="4" name="Text 2"/>
          <p:cNvSpPr txBox="1"/>
          <p:nvPr/>
        </p:nvSpPr>
        <p:spPr>
          <a:xfrm>
            <a:off x="640080" y="1261872"/>
            <a:ext cx="10908792" cy="365760"/>
          </a:xfrm>
          <a:prstGeom prst="rect">
            <a:avLst/>
          </a:prstGeom>
          <a:noFill/>
          <a:ln/>
        </p:spPr>
        <p:txBody>
          <a:bodyPr wrap="square" lIns="0" tIns="0" rIns="0" bIns="0" rtlCol="0" anchor="t"/>
          <a:lstStyle/>
          <a:p>
            <a:pPr indent="0" marL="0">
              <a:lnSpc>
                <a:spcPts val="1917"/>
              </a:lnSpc>
              <a:buNone/>
            </a:pPr>
            <a:r>
              <a:rPr lang="en-US" sz="1350" dirty="0">
                <a:solidFill>
                  <a:srgbClr val="595959"/>
                </a:solidFill>
                <a:latin typeface="Cambria" pitchFamily="34" charset="0"/>
                <a:ea typeface="Cambria" pitchFamily="34" charset="-122"/>
                <a:cs typeface="Cambria" pitchFamily="34" charset="-120"/>
              </a:rPr>
              <a:t>What to do when the evidence check fails. Four legitimate responses, and the right one depends on why it failed.</a:t>
            </a:r>
            <a:endParaRPr lang="en-US" sz="1350" dirty="0"/>
          </a:p>
        </p:txBody>
      </p:sp>
      <p:sp>
        <p:nvSpPr>
          <p:cNvPr id="5" name="Text 3"/>
          <p:cNvSpPr txBox="1"/>
          <p:nvPr/>
        </p:nvSpPr>
        <p:spPr>
          <a:xfrm>
            <a:off x="640080" y="1807494"/>
            <a:ext cx="1737360" cy="274320"/>
          </a:xfrm>
          <a:prstGeom prst="rect">
            <a:avLst/>
          </a:prstGeom>
          <a:noFill/>
          <a:ln/>
        </p:spPr>
        <p:txBody>
          <a:bodyPr wrap="square" lIns="0" tIns="0" rIns="0" bIns="0" rtlCol="0" anchor="t"/>
          <a:lstStyle/>
          <a:p>
            <a:pPr indent="0" marL="0">
              <a:buNone/>
            </a:pPr>
            <a:r>
              <a:rPr lang="en-US" sz="1350" b="1" dirty="0">
                <a:solidFill>
                  <a:srgbClr val="111111"/>
                </a:solidFill>
                <a:latin typeface="Cambria" pitchFamily="34" charset="0"/>
                <a:ea typeface="Cambria" pitchFamily="34" charset="-122"/>
                <a:cs typeface="Cambria" pitchFamily="34" charset="-120"/>
              </a:rPr>
              <a:t>Retry</a:t>
            </a:r>
            <a:endParaRPr lang="en-US" sz="1350" dirty="0"/>
          </a:p>
        </p:txBody>
      </p:sp>
      <p:sp>
        <p:nvSpPr>
          <p:cNvPr id="6" name="Text 4"/>
          <p:cNvSpPr txBox="1"/>
          <p:nvPr/>
        </p:nvSpPr>
        <p:spPr>
          <a:xfrm>
            <a:off x="2377440" y="1755648"/>
            <a:ext cx="9171432" cy="274320"/>
          </a:xfrm>
          <a:prstGeom prst="rect">
            <a:avLst/>
          </a:prstGeom>
          <a:noFill/>
          <a:ln/>
        </p:spPr>
        <p:txBody>
          <a:bodyPr wrap="square" lIns="0" tIns="0" rIns="0" bIns="0" rtlCol="0" anchor="t"/>
          <a:lstStyle/>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reformulate and search again, if the miss looks like a retrieval miss</a:t>
            </a:r>
            <a:endParaRPr lang="en-US" sz="1350" dirty="0"/>
          </a:p>
        </p:txBody>
      </p:sp>
      <p:sp>
        <p:nvSpPr>
          <p:cNvPr id="7" name="Text 5"/>
          <p:cNvSpPr txBox="1"/>
          <p:nvPr/>
        </p:nvSpPr>
        <p:spPr>
          <a:xfrm>
            <a:off x="640080" y="2142393"/>
            <a:ext cx="1737360" cy="274320"/>
          </a:xfrm>
          <a:prstGeom prst="rect">
            <a:avLst/>
          </a:prstGeom>
          <a:noFill/>
          <a:ln/>
        </p:spPr>
        <p:txBody>
          <a:bodyPr wrap="square" lIns="0" tIns="0" rIns="0" bIns="0" rtlCol="0" anchor="t"/>
          <a:lstStyle/>
          <a:p>
            <a:pPr indent="0" marL="0">
              <a:buNone/>
            </a:pPr>
            <a:r>
              <a:rPr lang="en-US" sz="1350" b="1" dirty="0">
                <a:solidFill>
                  <a:srgbClr val="111111"/>
                </a:solidFill>
                <a:latin typeface="Cambria" pitchFamily="34" charset="0"/>
                <a:ea typeface="Cambria" pitchFamily="34" charset="-122"/>
                <a:cs typeface="Cambria" pitchFamily="34" charset="-120"/>
              </a:rPr>
              <a:t>Clarify</a:t>
            </a:r>
            <a:endParaRPr lang="en-US" sz="1350" dirty="0"/>
          </a:p>
        </p:txBody>
      </p:sp>
      <p:sp>
        <p:nvSpPr>
          <p:cNvPr id="8" name="Text 6"/>
          <p:cNvSpPr txBox="1"/>
          <p:nvPr/>
        </p:nvSpPr>
        <p:spPr>
          <a:xfrm>
            <a:off x="2377440" y="2090547"/>
            <a:ext cx="9171432" cy="274320"/>
          </a:xfrm>
          <a:prstGeom prst="rect">
            <a:avLst/>
          </a:prstGeom>
          <a:noFill/>
          <a:ln/>
        </p:spPr>
        <p:txBody>
          <a:bodyPr wrap="square" lIns="0" tIns="0" rIns="0" bIns="0" rtlCol="0" anchor="t"/>
          <a:lstStyle/>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ask for the missing fact, if the question is under-specified</a:t>
            </a:r>
            <a:endParaRPr lang="en-US" sz="1350" dirty="0"/>
          </a:p>
        </p:txBody>
      </p:sp>
      <p:sp>
        <p:nvSpPr>
          <p:cNvPr id="9" name="Text 7"/>
          <p:cNvSpPr txBox="1"/>
          <p:nvPr/>
        </p:nvSpPr>
        <p:spPr>
          <a:xfrm>
            <a:off x="640080" y="2477292"/>
            <a:ext cx="1737360" cy="274320"/>
          </a:xfrm>
          <a:prstGeom prst="rect">
            <a:avLst/>
          </a:prstGeom>
          <a:noFill/>
          <a:ln/>
        </p:spPr>
        <p:txBody>
          <a:bodyPr wrap="square" lIns="0" tIns="0" rIns="0" bIns="0" rtlCol="0" anchor="t"/>
          <a:lstStyle/>
          <a:p>
            <a:pPr indent="0" marL="0">
              <a:buNone/>
            </a:pPr>
            <a:r>
              <a:rPr lang="en-US" sz="1350" b="1" dirty="0">
                <a:solidFill>
                  <a:srgbClr val="111111"/>
                </a:solidFill>
                <a:latin typeface="Cambria" pitchFamily="34" charset="0"/>
                <a:ea typeface="Cambria" pitchFamily="34" charset="-122"/>
                <a:cs typeface="Cambria" pitchFamily="34" charset="-120"/>
              </a:rPr>
              <a:t>Refuse</a:t>
            </a:r>
            <a:endParaRPr lang="en-US" sz="1350" dirty="0"/>
          </a:p>
        </p:txBody>
      </p:sp>
      <p:sp>
        <p:nvSpPr>
          <p:cNvPr id="10" name="Text 8"/>
          <p:cNvSpPr txBox="1"/>
          <p:nvPr/>
        </p:nvSpPr>
        <p:spPr>
          <a:xfrm>
            <a:off x="2377440" y="2425446"/>
            <a:ext cx="9171432" cy="274320"/>
          </a:xfrm>
          <a:prstGeom prst="rect">
            <a:avLst/>
          </a:prstGeom>
          <a:noFill/>
          <a:ln/>
        </p:spPr>
        <p:txBody>
          <a:bodyPr wrap="square" lIns="0" tIns="0" rIns="0" bIns="0" rtlCol="0" anchor="t"/>
          <a:lstStyle/>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if the provision genuinely does not cover the case</a:t>
            </a:r>
            <a:endParaRPr lang="en-US" sz="1350" dirty="0"/>
          </a:p>
        </p:txBody>
      </p:sp>
      <p:sp>
        <p:nvSpPr>
          <p:cNvPr id="11" name="Text 9"/>
          <p:cNvSpPr txBox="1"/>
          <p:nvPr/>
        </p:nvSpPr>
        <p:spPr>
          <a:xfrm>
            <a:off x="640080" y="2812191"/>
            <a:ext cx="1737360" cy="274320"/>
          </a:xfrm>
          <a:prstGeom prst="rect">
            <a:avLst/>
          </a:prstGeom>
          <a:noFill/>
          <a:ln/>
        </p:spPr>
        <p:txBody>
          <a:bodyPr wrap="square" lIns="0" tIns="0" rIns="0" bIns="0" rtlCol="0" anchor="t"/>
          <a:lstStyle/>
          <a:p>
            <a:pPr indent="0" marL="0">
              <a:buNone/>
            </a:pPr>
            <a:r>
              <a:rPr lang="en-US" sz="1350" b="1" dirty="0">
                <a:solidFill>
                  <a:srgbClr val="111111"/>
                </a:solidFill>
                <a:latin typeface="Cambria" pitchFamily="34" charset="0"/>
                <a:ea typeface="Cambria" pitchFamily="34" charset="-122"/>
                <a:cs typeface="Cambria" pitchFamily="34" charset="-120"/>
              </a:rPr>
              <a:t>Answer narrower</a:t>
            </a:r>
            <a:endParaRPr lang="en-US" sz="1350" dirty="0"/>
          </a:p>
        </p:txBody>
      </p:sp>
      <p:sp>
        <p:nvSpPr>
          <p:cNvPr id="12" name="Text 10"/>
          <p:cNvSpPr txBox="1"/>
          <p:nvPr/>
        </p:nvSpPr>
        <p:spPr>
          <a:xfrm>
            <a:off x="2377440" y="2760345"/>
            <a:ext cx="9171432" cy="274320"/>
          </a:xfrm>
          <a:prstGeom prst="rect">
            <a:avLst/>
          </a:prstGeom>
          <a:noFill/>
          <a:ln/>
        </p:spPr>
        <p:txBody>
          <a:bodyPr wrap="square" lIns="0" tIns="0" rIns="0" bIns="0" rtlCol="0" anchor="t"/>
          <a:lstStyle/>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if only part of the claim is supported</a:t>
            </a:r>
            <a:endParaRPr lang="en-US" sz="1350" dirty="0"/>
          </a:p>
        </p:txBody>
      </p:sp>
      <p:sp>
        <p:nvSpPr>
          <p:cNvPr id="13" name="Text 11"/>
          <p:cNvSpPr txBox="1"/>
          <p:nvPr/>
        </p:nvSpPr>
        <p:spPr>
          <a:xfrm>
            <a:off x="640080" y="3310128"/>
            <a:ext cx="10908792"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Getting it wrong is a failure in both directions</a:t>
            </a:r>
            <a:endParaRPr lang="en-US" sz="1450" dirty="0"/>
          </a:p>
        </p:txBody>
      </p:sp>
      <p:sp>
        <p:nvSpPr>
          <p:cNvPr id="14" name="Text 12"/>
          <p:cNvSpPr txBox="1"/>
          <p:nvPr/>
        </p:nvSpPr>
        <p:spPr>
          <a:xfrm>
            <a:off x="640080" y="3657600"/>
            <a:ext cx="10908792" cy="822960"/>
          </a:xfrm>
          <a:prstGeom prst="rect">
            <a:avLst/>
          </a:prstGeom>
          <a:noFill/>
          <a:ln/>
        </p:spPr>
        <p:txBody>
          <a:bodyPr wrap="square" lIns="0" tIns="0" rIns="0" bIns="0" rtlCol="0" anchor="t"/>
          <a:lstStyle/>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Too eager to refuse and the product is useless — that is the false-refusal rate. Too eager to answer and we reproduce exactly the mis-citation we set out to prevent. The accept threshold on the support score decides which way we fail, and it is an empirical question about Vietnamese legal text, not something a prompt settles.</a:t>
            </a:r>
            <a:endParaRPr lang="en-US" sz="1350" dirty="0"/>
          </a:p>
        </p:txBody>
      </p:sp>
      <p:sp>
        <p:nvSpPr>
          <p:cNvPr id="15" name="Text 13"/>
          <p:cNvSpPr txBox="1"/>
          <p:nvPr/>
        </p:nvSpPr>
        <p:spPr>
          <a:xfrm>
            <a:off x="640080" y="4663440"/>
            <a:ext cx="10908792"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Why an AI coding assistant cannot do this in an afternoon</a:t>
            </a:r>
            <a:endParaRPr lang="en-US" sz="1450" dirty="0"/>
          </a:p>
        </p:txBody>
      </p:sp>
      <p:sp>
        <p:nvSpPr>
          <p:cNvPr id="16" name="Text 14"/>
          <p:cNvSpPr txBox="1"/>
          <p:nvPr/>
        </p:nvSpPr>
        <p:spPr>
          <a:xfrm>
            <a:off x="640080" y="5010912"/>
            <a:ext cx="10908792" cy="1005840"/>
          </a:xfrm>
          <a:prstGeom prst="rect">
            <a:avLst/>
          </a:prstGeom>
          <a:noFill/>
          <a:ln/>
        </p:spPr>
        <p:txBody>
          <a:bodyPr wrap="square" lIns="0" tIns="0" rIns="0" bIns="0" rtlCol="0" anchor="t"/>
          <a:lstStyle/>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It can scaffold the loop in an afternoon — and it does; we say so in our AI-use statement. What it cannot do is tell us where that threshold sits, or pay the cost of measuring the trade-off between grounding, coverage and latency on a 4B model under a five-call budget. That measurement is the project.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10</a:t>
            </a:r>
            <a:endParaRPr lang="en-US" sz="1000" dirty="0"/>
          </a:p>
        </p:txBody>
      </p:sp>
      <p:sp>
        <p:nvSpPr>
          <p:cNvPr id="3" name="Text 1"/>
          <p:cNvSpPr txBox="1"/>
          <p:nvPr/>
        </p:nvSpPr>
        <p:spPr>
          <a:xfrm>
            <a:off x="640080" y="402336"/>
            <a:ext cx="8714232" cy="50292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Who is affected, and why now</a:t>
            </a:r>
            <a:endParaRPr lang="en-US" sz="2800" dirty="0"/>
          </a:p>
        </p:txBody>
      </p:sp>
      <p:sp>
        <p:nvSpPr>
          <p:cNvPr id="4" name="Text 2"/>
          <p:cNvSpPr txBox="1"/>
          <p:nvPr/>
        </p:nvSpPr>
        <p:spPr>
          <a:xfrm>
            <a:off x="640080" y="1325880"/>
            <a:ext cx="10908792"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If it works perfectly, who uses it</a:t>
            </a:r>
            <a:endParaRPr lang="en-US" sz="1450" dirty="0"/>
          </a:p>
        </p:txBody>
      </p:sp>
      <p:sp>
        <p:nvSpPr>
          <p:cNvPr id="5" name="Text 3"/>
          <p:cNvSpPr txBox="1"/>
          <p:nvPr/>
        </p:nvSpPr>
        <p:spPr>
          <a:xfrm>
            <a:off x="640080" y="1673352"/>
            <a:ext cx="10908792" cy="731520"/>
          </a:xfrm>
          <a:prstGeom prst="rect">
            <a:avLst/>
          </a:prstGeom>
          <a:noFill/>
          <a:ln/>
        </p:spPr>
        <p:txBody>
          <a:bodyPr wrap="square" lIns="0" tIns="0" rIns="0" bIns="0" rtlCol="0" anchor="t"/>
          <a:lstStyle/>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An SME with no in-house counsel, whose HR staff answer employment questions today by guessing or by pasting a contract into a public chatbot. They get an answer plus the provision it rests on, and a refusal when the corpus does not cover the case.</a:t>
            </a:r>
            <a:endParaRPr lang="en-US" sz="1350" dirty="0"/>
          </a:p>
        </p:txBody>
      </p:sp>
      <p:sp>
        <p:nvSpPr>
          <p:cNvPr id="6" name="Text 4"/>
          <p:cNvSpPr txBox="1"/>
          <p:nvPr/>
        </p:nvSpPr>
        <p:spPr>
          <a:xfrm>
            <a:off x="640080" y="2743200"/>
            <a:ext cx="10908792"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The failure is measured, not hypothetical</a:t>
            </a:r>
            <a:endParaRPr lang="en-US" sz="1450" dirty="0"/>
          </a:p>
        </p:txBody>
      </p:sp>
      <p:sp>
        <p:nvSpPr>
          <p:cNvPr id="7" name="Text 5"/>
          <p:cNvSpPr txBox="1"/>
          <p:nvPr/>
        </p:nvSpPr>
        <p:spPr>
          <a:xfrm>
            <a:off x="640080" y="3090672"/>
            <a:ext cx="10908792" cy="731520"/>
          </a:xfrm>
          <a:prstGeom prst="rect">
            <a:avLst/>
          </a:prstGeom>
          <a:noFill/>
          <a:ln/>
        </p:spPr>
        <p:txBody>
          <a:bodyPr wrap="square" lIns="0" tIns="0" rIns="0" bIns="0" rtlCol="0" anchor="t"/>
          <a:lstStyle/>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Magesh et al. (2025) assessed leading commercial AI legal-research tools and still found unsupported and mis-attributed citations. A fluent wrong answer about notice periods has employment and compliance consequences.</a:t>
            </a:r>
            <a:endParaRPr lang="en-US" sz="1350" dirty="0"/>
          </a:p>
        </p:txBody>
      </p:sp>
      <p:sp>
        <p:nvSpPr>
          <p:cNvPr id="8" name="Text 6"/>
          <p:cNvSpPr txBox="1"/>
          <p:nvPr/>
        </p:nvSpPr>
        <p:spPr>
          <a:xfrm>
            <a:off x="640080" y="4160520"/>
            <a:ext cx="10908792" cy="274320"/>
          </a:xfrm>
          <a:prstGeom prst="rect">
            <a:avLst/>
          </a:prstGeom>
          <a:noFill/>
          <a:ln/>
        </p:spPr>
        <p:txBody>
          <a:bodyPr wrap="square" lIns="0" tIns="0" rIns="0" bIns="0" rtlCol="0" anchor="t"/>
          <a:lstStyle/>
          <a:p>
            <a:pPr indent="0" marL="0">
              <a:buNone/>
            </a:pPr>
            <a:r>
              <a:rPr lang="en-US" sz="1450" b="1" dirty="0">
                <a:solidFill>
                  <a:srgbClr val="111111"/>
                </a:solidFill>
                <a:latin typeface="Cambria" pitchFamily="34" charset="0"/>
                <a:ea typeface="Cambria" pitchFamily="34" charset="-122"/>
                <a:cs typeface="Cambria" pitchFamily="34" charset="-120"/>
              </a:rPr>
              <a:t>The privacy constraint is now law</a:t>
            </a:r>
            <a:endParaRPr lang="en-US" sz="1450" dirty="0"/>
          </a:p>
        </p:txBody>
      </p:sp>
      <p:sp>
        <p:nvSpPr>
          <p:cNvPr id="9" name="Text 7"/>
          <p:cNvSpPr txBox="1"/>
          <p:nvPr/>
        </p:nvSpPr>
        <p:spPr>
          <a:xfrm>
            <a:off x="640080" y="4507992"/>
            <a:ext cx="10908792" cy="731520"/>
          </a:xfrm>
          <a:prstGeom prst="rect">
            <a:avLst/>
          </a:prstGeom>
          <a:noFill/>
          <a:ln/>
        </p:spPr>
        <p:txBody>
          <a:bodyPr wrap="square" lIns="0" tIns="0" rIns="0" bIns="0" rtlCol="0" anchor="t"/>
          <a:lstStyle/>
          <a:p>
            <a:pPr indent="0" marL="0">
              <a:lnSpc>
                <a:spcPts val="1917"/>
              </a:lnSpc>
              <a:buNone/>
            </a:pPr>
            <a:r>
              <a:rPr lang="en-US" sz="1350" dirty="0">
                <a:solidFill>
                  <a:srgbClr val="111111"/>
                </a:solidFill>
                <a:latin typeface="Cambria" pitchFamily="34" charset="0"/>
                <a:ea typeface="Cambria" pitchFamily="34" charset="-122"/>
                <a:cs typeface="Cambria" pitchFamily="34" charset="-120"/>
              </a:rPr>
              <a:t>Vietnam’s Law on Personal Data Protection (91/2025/QH15) took effect 1 January 2026, with Decree 356/2025/NĐ-CP. Employment questions carry exactly the data it regulates, which is why inference stays inside the organization.</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11</a:t>
            </a:r>
            <a:endParaRPr lang="en-US" sz="1000" dirty="0"/>
          </a:p>
        </p:txBody>
      </p:sp>
      <p:sp>
        <p:nvSpPr>
          <p:cNvPr id="3" name="Text 1"/>
          <p:cNvSpPr txBox="1"/>
          <p:nvPr/>
        </p:nvSpPr>
        <p:spPr>
          <a:xfrm>
            <a:off x="640080" y="402336"/>
            <a:ext cx="8714232" cy="50292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Ten weeks, three independent tracks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298448"/>
          <a:ext cx="10908792" cy="914400"/>
        </p:xfrm>
        <a:graphic>
          <a:graphicData uri="http://schemas.openxmlformats.org/drawingml/2006/table">
            <a:tbl>
              <a:tblPr/>
              <a:tblGrid>
                <a:gridCol w="914400"/>
                <a:gridCol w="7498080"/>
                <a:gridCol w="2496312"/>
              </a:tblGrid>
              <a:tr h="0">
                <a:tc>
                  <a:txBody>
                    <a:bodyPr/>
                    <a:lstStyle/>
                    <a:p>
                      <a:pPr indent="0" marL="0">
                        <a:buNone/>
                      </a:pPr>
                      <a:r>
                        <a:rPr lang="en-US" sz="1200" b="1" dirty="0">
                          <a:solidFill>
                            <a:srgbClr val="111111"/>
                          </a:solidFill>
                          <a:latin typeface="Cambria" pitchFamily="34" charset="0"/>
                          <a:ea typeface="Cambria" pitchFamily="34" charset="-122"/>
                          <a:cs typeface="Cambria" pitchFamily="34" charset="-120"/>
                        </a:rPr>
                        <a:t>Week</a:t>
                      </a:r>
                      <a:endParaRPr lang="en-US" sz="1200" dirty="0">
                        <a:latin typeface="Cambria" charset="0"/>
                        <a:ea typeface="Cambria" charset="0"/>
                        <a:cs typeface="Cambria" charset="0"/>
                      </a:endParaRPr>
                    </a:p>
                  </a:txBody>
                  <a:tcPr marL="114300" marR="114300" marT="88900" marB="88900" anchor="ctr">
                    <a:lnL w="0" cap="flat" cmpd="sng" algn="ctr">
                      <a:noFill/>
                    </a:lnL>
                    <a:lnR w="0" cap="flat" cmpd="sng" algn="ctr">
                      <a:noFill/>
                    </a:lnR>
                    <a:lnT w="15875"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Cambria" pitchFamily="34" charset="0"/>
                          <a:ea typeface="Cambria" pitchFamily="34" charset="-122"/>
                          <a:cs typeface="Cambria" pitchFamily="34" charset="-120"/>
                        </a:rPr>
                        <a:t>Outcome</a:t>
                      </a:r>
                      <a:endParaRPr lang="en-US" sz="1200" dirty="0">
                        <a:latin typeface="Cambria" charset="0"/>
                        <a:ea typeface="Cambria" charset="0"/>
                        <a:cs typeface="Cambria" charset="0"/>
                      </a:endParaRPr>
                    </a:p>
                  </a:txBody>
                  <a:tcPr marL="114300" marR="114300" marT="88900" marB="88900" anchor="ctr">
                    <a:lnL w="0" cap="flat" cmpd="sng" algn="ctr">
                      <a:noFill/>
                    </a:lnL>
                    <a:lnR w="0" cap="flat" cmpd="sng" algn="ctr">
                      <a:noFill/>
                    </a:lnR>
                    <a:lnT w="15875"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Cambria" pitchFamily="34" charset="0"/>
                          <a:ea typeface="Cambria" pitchFamily="34" charset="-122"/>
                          <a:cs typeface="Cambria" pitchFamily="34" charset="-120"/>
                        </a:rPr>
                        <a:t>Owner</a:t>
                      </a:r>
                      <a:endParaRPr lang="en-US" sz="1200" dirty="0">
                        <a:latin typeface="Cambria" charset="0"/>
                        <a:ea typeface="Cambria" charset="0"/>
                        <a:cs typeface="Cambria" charset="0"/>
                      </a:endParaRPr>
                    </a:p>
                  </a:txBody>
                  <a:tcPr marL="114300" marR="114300" marT="88900" marB="88900" anchor="ctr">
                    <a:lnL w="0" cap="flat" cmpd="sng" algn="ctr">
                      <a:noFill/>
                    </a:lnL>
                    <a:lnR w="0" cap="flat" cmpd="sng" algn="ctr">
                      <a:noFill/>
                    </a:lnR>
                    <a:lnT w="15875"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W3</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Interface contract frozen: tool JSON schemas, retrieval API, trace and log format — from here the three tracks are independent</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all</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W4–W5</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Corpus indexed, BM25 + dense + RRF, first Recall@k · budgeted loop with schema-validated output and L1 · UI, permissioned tool layer, audit log, SQLite</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Quyền / Dũng / Phong</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W6</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Span-support check and targeted repair; harness end-to-end on 10 tasks · guarded send_summary, first injection cases</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Dũng, Quyền / Phong</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W7 (D2)</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Checkpoint: live demo, retrieval metrics, ≥10 tasks, threat model v1</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all</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W8–W9</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Full 20-task set, fault injection, degraded mode · 3 configs × 3 seeds, verifier audit</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Quyền, Phong / Dũng</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W10–W11</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Attack suite, error analysis, latency and cost, fully offline run, one-command reproduction</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all</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W12</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15875"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D3 and D4 tagged; Round 1 defense with live demo</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15875"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all</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15875" cap="flat" cmpd="sng" algn="ctr">
                      <a:solidFill>
                        <a:srgbClr val="11111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4617720"/>
            <a:ext cx="10908792" cy="640080"/>
          </a:xfrm>
          <a:prstGeom prst="rect">
            <a:avLst/>
          </a:prstGeom>
          <a:noFill/>
          <a:ln/>
        </p:spPr>
        <p:txBody>
          <a:bodyPr wrap="square" lIns="0" tIns="0" rIns="0" bIns="0" rtlCol="0" anchor="t"/>
          <a:lstStyle/>
          <a:p>
            <a:pPr indent="0" marL="0">
              <a:lnSpc>
                <a:spcPts val="1775"/>
              </a:lnSpc>
              <a:buNone/>
            </a:pPr>
            <a:r>
              <a:rPr lang="en-US" sz="1250" dirty="0">
                <a:solidFill>
                  <a:srgbClr val="595959"/>
                </a:solidFill>
                <a:latin typeface="Cambria" pitchFamily="34" charset="0"/>
                <a:ea typeface="Cambria" pitchFamily="34" charset="-122"/>
                <a:cs typeface="Cambria" pitchFamily="34" charset="-120"/>
              </a:rPr>
              <a:t>Two of the three of us are software engineers new to agentic AI, with about four hours a week each. Only one track is agent-specific; retrieval, UI, storage and the fault harness are conventional engineering. Each member owns a component that appears in the evaluation.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12</a:t>
            </a:r>
            <a:endParaRPr lang="en-US" sz="1000" dirty="0"/>
          </a:p>
        </p:txBody>
      </p:sp>
      <p:sp>
        <p:nvSpPr>
          <p:cNvPr id="3" name="Text 1"/>
          <p:cNvSpPr txBox="1"/>
          <p:nvPr/>
        </p:nvSpPr>
        <p:spPr>
          <a:xfrm>
            <a:off x="640080" y="402336"/>
            <a:ext cx="8714232" cy="50292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Where each requirement is satisfied</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298448"/>
          <a:ext cx="10908792" cy="914400"/>
        </p:xfrm>
        <a:graphic>
          <a:graphicData uri="http://schemas.openxmlformats.org/drawingml/2006/table">
            <a:tbl>
              <a:tblPr/>
              <a:tblGrid>
                <a:gridCol w="731520"/>
                <a:gridCol w="2286000"/>
                <a:gridCol w="7891272"/>
              </a:tblGrid>
              <a:tr h="347472">
                <a:tc>
                  <a:txBody>
                    <a:bodyPr/>
                    <a:lstStyle/>
                    <a:p>
                      <a:pPr indent="0" marL="0">
                        <a:buNone/>
                      </a:pPr>
                      <a:r>
                        <a:rPr lang="en-US" sz="1200" b="1" dirty="0">
                          <a:solidFill>
                            <a:srgbClr val="111111"/>
                          </a:solidFill>
                          <a:latin typeface="Cambria" pitchFamily="34" charset="0"/>
                          <a:ea typeface="Cambria" pitchFamily="34" charset="-122"/>
                          <a:cs typeface="Cambria" pitchFamily="34" charset="-120"/>
                        </a:rPr>
                        <a:t>Req</a:t>
                      </a:r>
                      <a:endParaRPr lang="en-US" sz="1200" dirty="0">
                        <a:latin typeface="Cambria" charset="0"/>
                        <a:ea typeface="Cambria" charset="0"/>
                        <a:cs typeface="Cambria" charset="0"/>
                      </a:endParaRPr>
                    </a:p>
                  </a:txBody>
                  <a:tcPr marL="114300" marR="114300" marT="88900" marB="88900" anchor="ctr">
                    <a:lnL w="0" cap="flat" cmpd="sng" algn="ctr">
                      <a:noFill/>
                    </a:lnL>
                    <a:lnR w="0" cap="flat" cmpd="sng" algn="ctr">
                      <a:noFill/>
                    </a:lnR>
                    <a:lnT w="15875"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Cambria" pitchFamily="34" charset="0"/>
                          <a:ea typeface="Cambria" pitchFamily="34" charset="-122"/>
                          <a:cs typeface="Cambria" pitchFamily="34" charset="-120"/>
                        </a:rPr>
                        <a:t>What it asks</a:t>
                      </a:r>
                      <a:endParaRPr lang="en-US" sz="1200" dirty="0">
                        <a:latin typeface="Cambria" charset="0"/>
                        <a:ea typeface="Cambria" charset="0"/>
                        <a:cs typeface="Cambria" charset="0"/>
                      </a:endParaRPr>
                    </a:p>
                  </a:txBody>
                  <a:tcPr marL="114300" marR="114300" marT="88900" marB="88900" anchor="ctr">
                    <a:lnL w="0" cap="flat" cmpd="sng" algn="ctr">
                      <a:noFill/>
                    </a:lnL>
                    <a:lnR w="0" cap="flat" cmpd="sng" algn="ctr">
                      <a:noFill/>
                    </a:lnR>
                    <a:lnT w="15875"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200" b="1" dirty="0">
                          <a:solidFill>
                            <a:srgbClr val="111111"/>
                          </a:solidFill>
                          <a:latin typeface="Cambria" pitchFamily="34" charset="0"/>
                          <a:ea typeface="Cambria" pitchFamily="34" charset="-122"/>
                          <a:cs typeface="Cambria" pitchFamily="34" charset="-120"/>
                        </a:rPr>
                        <a:t>Where it lives</a:t>
                      </a:r>
                      <a:endParaRPr lang="en-US" sz="1200" dirty="0">
                        <a:latin typeface="Cambria" charset="0"/>
                        <a:ea typeface="Cambria" charset="0"/>
                        <a:cs typeface="Cambria" charset="0"/>
                      </a:endParaRPr>
                    </a:p>
                  </a:txBody>
                  <a:tcPr marL="114300" marR="114300" marT="88900" marB="88900" anchor="ctr">
                    <a:lnL w="0" cap="flat" cmpd="sng" algn="ctr">
                      <a:noFill/>
                    </a:lnL>
                    <a:lnR w="0" cap="flat" cmpd="sng" algn="ctr">
                      <a:noFill/>
                    </a:lnR>
                    <a:lnT w="15875" cap="flat" cmpd="sng" algn="ctr">
                      <a:solidFill>
                        <a:srgbClr val="111111"/>
                      </a:solidFill>
                      <a:prstDash val="solid"/>
                      <a:round/>
                      <a:headEnd type="none" w="med" len="med"/>
                      <a:tailEnd type="none" w="med" len="med"/>
                    </a:lnT>
                    <a:lnB w="12700" cap="flat" cmpd="sng" algn="ctr">
                      <a:solidFill>
                        <a:srgbClr val="111111"/>
                      </a:solidFill>
                      <a:prstDash val="solid"/>
                      <a:round/>
                      <a:headEnd type="none" w="med" len="med"/>
                      <a:tailEnd type="none" w="med" len="med"/>
                    </a:lnB>
                    <a:solidFill>
                      <a:srgbClr val="FFFFFF"/>
                    </a:solidFill>
                  </a:tcPr>
                </a:tc>
              </a:tr>
              <a:tr h="694944">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R2</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Tools / MCP with permissions</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search_law, get_article read-only · save_case reversible · send_summary irreversible, human confirmation. JSON schemas kept MCP-compatible, so the layer can be exposed as an MCP server in D2 without touching the agent.</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694944">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R3</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Memory</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Short-term case ledger (facts, searches, article IDs, budget) + long-term SQLite episodic store. Written only on a verified terminal state; never a refusal, never raw personal details.</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R4</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 3 agentic axes</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A1 planning and search · A2 reflection and verification · A3 guardrails and security — each marked on the architecture figure.</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R5</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Evaluation</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200 retrieval pairs + 20 end-to-end tasks · 3 configurations × 3 seeds = 180 runs · verifier audit on 30 labelled pairs · offline run.</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6350" cap="flat" cmpd="sng" algn="ctr">
                      <a:solidFill>
                        <a:srgbClr val="BFBFBF"/>
                      </a:solidFill>
                      <a:prstDash val="solid"/>
                      <a:round/>
                      <a:headEnd type="none" w="med" len="med"/>
                      <a:tailEnd type="none" w="med" len="med"/>
                    </a:lnB>
                    <a:solidFill>
                      <a:srgbClr val="FFFFFF"/>
                    </a:solidFill>
                  </a:tcPr>
                </a:tc>
              </a:tr>
              <a:tr h="694944">
                <a:tc>
                  <a:txBody>
                    <a:bodyPr/>
                    <a:lstStyle/>
                    <a:p>
                      <a:pPr indent="0" marL="0">
                        <a:buNone/>
                      </a:pPr>
                      <a:r>
                        <a:rPr lang="en-US" sz="1150" b="1" dirty="0">
                          <a:solidFill>
                            <a:srgbClr val="111111"/>
                          </a:solidFill>
                          <a:latin typeface="Cambria" pitchFamily="34" charset="0"/>
                          <a:ea typeface="Cambria" pitchFamily="34" charset="-122"/>
                          <a:cs typeface="Cambria" pitchFamily="34" charset="-120"/>
                        </a:rPr>
                        <a:t>R6</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15875"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Threat model</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15875" cap="flat" cmpd="sng" algn="ctr">
                      <a:solidFill>
                        <a:srgbClr val="111111"/>
                      </a:solidFill>
                      <a:prstDash val="solid"/>
                      <a:round/>
                      <a:headEnd type="none" w="med" len="med"/>
                      <a:tailEnd type="none" w="med" len="med"/>
                    </a:lnB>
                    <a:solidFill>
                      <a:srgbClr val="FFFFFF"/>
                    </a:solidFill>
                  </a:tcPr>
                </a:tc>
                <a:tc>
                  <a:txBody>
                    <a:bodyPr/>
                    <a:lstStyle/>
                    <a:p>
                      <a:pPr indent="0" marL="0">
                        <a:buNone/>
                      </a:pPr>
                      <a:r>
                        <a:rPr lang="en-US" sz="1150" dirty="0">
                          <a:solidFill>
                            <a:srgbClr val="111111"/>
                          </a:solidFill>
                          <a:latin typeface="Cambria" pitchFamily="34" charset="0"/>
                          <a:ea typeface="Cambria" pitchFamily="34" charset="-122"/>
                          <a:cs typeface="Cambria" pitchFamily="34" charset="-120"/>
                        </a:rPr>
                        <a:t>Assets, entry points and attacker model, four threat classes with a named defense each, and an attack suite of ≥10 cases with utility and attack-success reported separately.</a:t>
                      </a:r>
                      <a:endParaRPr lang="en-US" sz="1150" dirty="0">
                        <a:latin typeface="Cambria" charset="0"/>
                        <a:ea typeface="Cambria" charset="0"/>
                        <a:cs typeface="Cambria" charset="0"/>
                      </a:endParaRPr>
                    </a:p>
                  </a:txBody>
                  <a:tcPr marL="114300" marR="114300" marT="88900" marB="88900" anchor="ctr">
                    <a:lnL w="0" cap="flat" cmpd="sng" algn="ctr">
                      <a:noFill/>
                    </a:lnL>
                    <a:lnR w="0" cap="flat" cmpd="sng" algn="ctr">
                      <a:noFill/>
                    </a:lnR>
                    <a:lnT w="0" cap="flat" cmpd="sng" algn="ctr">
                      <a:noFill/>
                    </a:lnT>
                    <a:lnB w="15875" cap="flat" cmpd="sng" algn="ctr">
                      <a:solidFill>
                        <a:srgbClr val="111111"/>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120640"/>
            <a:ext cx="10908792" cy="731520"/>
          </a:xfrm>
          <a:prstGeom prst="rect">
            <a:avLst/>
          </a:prstGeom>
          <a:noFill/>
          <a:ln/>
        </p:spPr>
        <p:txBody>
          <a:bodyPr wrap="square" lIns="0" tIns="0" rIns="0" bIns="0" rtlCol="0" anchor="t"/>
          <a:lstStyle/>
          <a:p>
            <a:pPr indent="0" marL="0">
              <a:lnSpc>
                <a:spcPts val="1775"/>
              </a:lnSpc>
              <a:buNone/>
            </a:pPr>
            <a:r>
              <a:rPr lang="en-US" sz="1250" dirty="0">
                <a:solidFill>
                  <a:srgbClr val="595959"/>
                </a:solidFill>
                <a:latin typeface="Cambria" pitchFamily="34" charset="0"/>
                <a:ea typeface="Cambria" pitchFamily="34" charset="-122"/>
                <a:cs typeface="Cambria" pitchFamily="34" charset="-120"/>
              </a:rPr>
              <a:t>Honest status: nothing above is built yet — D1 is the design. Two items are deliberately outside the requirement floor: exposing the tool layer as an actual MCP server is D2 work, and the reranker and the semantic-entailment layer (L2) are optional ablations we add only if capacity allows.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11091672" y="6382512"/>
            <a:ext cx="457200" cy="219456"/>
          </a:xfrm>
          <a:prstGeom prst="rect">
            <a:avLst/>
          </a:prstGeom>
          <a:noFill/>
          <a:ln/>
        </p:spPr>
        <p:txBody>
          <a:bodyPr wrap="square" lIns="0" tIns="0" rIns="0" bIns="0" rtlCol="0" anchor="ctr"/>
          <a:lstStyle/>
          <a:p>
            <a:pPr algn="r" indent="0" marL="0">
              <a:buNone/>
            </a:pPr>
            <a:r>
              <a:rPr lang="en-US" sz="1000" dirty="0">
                <a:solidFill>
                  <a:srgbClr val="8C8C8C"/>
                </a:solidFill>
                <a:latin typeface="Cambria" pitchFamily="34" charset="0"/>
                <a:ea typeface="Cambria" pitchFamily="34" charset="-122"/>
                <a:cs typeface="Cambria" pitchFamily="34" charset="-120"/>
              </a:rPr>
              <a:t>13</a:t>
            </a:r>
            <a:endParaRPr lang="en-US" sz="1000" dirty="0"/>
          </a:p>
        </p:txBody>
      </p:sp>
      <p:sp>
        <p:nvSpPr>
          <p:cNvPr id="3" name="Text 1"/>
          <p:cNvSpPr txBox="1"/>
          <p:nvPr/>
        </p:nvSpPr>
        <p:spPr>
          <a:xfrm>
            <a:off x="640080" y="402336"/>
            <a:ext cx="8714232" cy="502920"/>
          </a:xfrm>
          <a:prstGeom prst="rect">
            <a:avLst/>
          </a:prstGeom>
          <a:noFill/>
          <a:ln/>
        </p:spPr>
        <p:txBody>
          <a:bodyPr wrap="square" lIns="0" tIns="0" rIns="0" bIns="0" rtlCol="0" anchor="t"/>
          <a:lstStyle/>
          <a:p>
            <a:pPr indent="0" marL="0">
              <a:buNone/>
            </a:pPr>
            <a:r>
              <a:rPr lang="en-US" sz="2800" b="1" dirty="0">
                <a:solidFill>
                  <a:srgbClr val="111111"/>
                </a:solidFill>
                <a:latin typeface="Cambria" pitchFamily="34" charset="0"/>
                <a:ea typeface="Cambria" pitchFamily="34" charset="-122"/>
                <a:cs typeface="Cambria" pitchFamily="34" charset="-120"/>
              </a:rPr>
              <a:t>References</a:t>
            </a:r>
            <a:endParaRPr lang="en-US" sz="2800" dirty="0"/>
          </a:p>
        </p:txBody>
      </p:sp>
      <p:sp>
        <p:nvSpPr>
          <p:cNvPr id="4" name="Text 2"/>
          <p:cNvSpPr txBox="1"/>
          <p:nvPr/>
        </p:nvSpPr>
        <p:spPr>
          <a:xfrm>
            <a:off x="640080" y="1298448"/>
            <a:ext cx="10908792" cy="4846320"/>
          </a:xfrm>
          <a:prstGeom prst="rect">
            <a:avLst/>
          </a:prstGeom>
          <a:noFill/>
          <a:ln/>
        </p:spPr>
        <p:txBody>
          <a:bodyPr wrap="square" lIns="0" tIns="0" rIns="0" bIns="0" rtlCol="0" anchor="t"/>
          <a:lstStyle/>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[1]  V. Magesh et al. “Hallucination-Free? Assessing the Reliability of Leading AI Legal Research Tools.” Journal of Empirical Legal Studies 22 (2025), 216–242.</a:t>
            </a:r>
            <a:endParaRPr lang="en-US" sz="1150" dirty="0"/>
          </a:p>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[2]  National Assembly of Vietnam. Law on Personal Data Protection, Law No. 91/2025/QH15. Passed 26 June 2025; effective 1 January 2026.</a:t>
            </a:r>
            <a:endParaRPr lang="en-US" sz="1150" dirty="0"/>
          </a:p>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[3]  Government of Vietnam. Decree No. 356/2025/NĐ-CP on personal data protection. 2025.</a:t>
            </a:r>
            <a:endParaRPr lang="en-US" sz="1150" dirty="0"/>
          </a:p>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[4]  T.-M. Nguyen et al. “VLQA: The First Comprehensive, Large, and High-Quality Vietnamese Dataset for Legal Question Answering.” arXiv:2507.19995 [cs.CL], 2025.</a:t>
            </a:r>
            <a:endParaRPr lang="en-US" sz="1150" dirty="0"/>
          </a:p>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[5]  P. Lewis et al. “Retrieval-Augmented Generation for Knowledge-Intensive NLP Tasks.” NeurIPS, 2020.</a:t>
            </a:r>
            <a:endParaRPr lang="en-US" sz="1150" dirty="0"/>
          </a:p>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[6]  S. Yao et al. “ReAct: Synergizing Reasoning and Acting in Language Models.” ICLR, 2023.</a:t>
            </a:r>
            <a:endParaRPr lang="en-US" sz="1150" dirty="0"/>
          </a:p>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[7]  T. Gao, H. Yen, J. Yu, D. Chen. “Enabling Large Language Models to Generate Text with Citations.” EMNLP, 2023.</a:t>
            </a:r>
            <a:endParaRPr lang="en-US" sz="1150" dirty="0"/>
          </a:p>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[8]  J. Huang et al. “Large Language Models Cannot Self-Correct Reasoning Yet.” ICLR, 2024.</a:t>
            </a:r>
            <a:endParaRPr lang="en-US" sz="1150" dirty="0"/>
          </a:p>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[9]  K. Greshake et al. “Not What You’ve Signed Up For: Compromising Real-World LLM-Integrated Applications with Indirect Prompt Injection.” AISec, 2023.</a:t>
            </a:r>
            <a:endParaRPr lang="en-US" sz="1150" dirty="0"/>
          </a:p>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[10] E. Debenedetti et al. “AgentDojo: A Dynamic Environment to Evaluate Prompt Injection Attacks and Defenses for LLM Agents.” NeurIPS Datasets and Benchmarks, 2024.</a:t>
            </a:r>
            <a:endParaRPr lang="en-US" sz="1150" dirty="0"/>
          </a:p>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[11] S. Kapoor et al. “AI Agents That Matter.” Preprint, 2024.</a:t>
            </a:r>
            <a:endParaRPr lang="en-US" sz="1150" dirty="0"/>
          </a:p>
          <a:p>
            <a:pPr indent="0" marL="0">
              <a:lnSpc>
                <a:spcPts val="1500"/>
              </a:lnSpc>
              <a:spcAft>
                <a:spcPts val="400"/>
              </a:spcAft>
              <a:buNone/>
            </a:pPr>
            <a:r>
              <a:rPr lang="en-US" sz="1150" dirty="0">
                <a:solidFill>
                  <a:srgbClr val="111111"/>
                </a:solidFill>
                <a:latin typeface="Cambria" pitchFamily="34" charset="0"/>
                <a:ea typeface="Cambria" pitchFamily="34" charset="-122"/>
                <a:cs typeface="Cambria" pitchFamily="34" charset="-120"/>
              </a:rPr>
              <a:t>[12] Anthropic. “Building Effective Agents.” Technical article, 2024.</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LuatCheck - D1 Pitch</dc:title>
  <dc:subject>PptxGenJS Presentation</dc:subject>
  <dc:creator>Group 8 - CO5151</dc:creator>
  <cp:lastModifiedBy>Group 8 - CO5151</cp:lastModifiedBy>
  <cp:revision>1</cp:revision>
  <dcterms:created xsi:type="dcterms:W3CDTF">2026-09-14T15:29:51Z</dcterms:created>
  <dcterms:modified xsi:type="dcterms:W3CDTF">2026-09-14T15:29:51Z</dcterms:modified>
</cp:coreProperties>
</file>